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56" r:id="rId5"/>
    <p:sldId id="283" r:id="rId6"/>
    <p:sldId id="286" r:id="rId7"/>
    <p:sldId id="288" r:id="rId8"/>
    <p:sldId id="305" r:id="rId9"/>
    <p:sldId id="298" r:id="rId10"/>
    <p:sldId id="302" r:id="rId11"/>
    <p:sldId id="303" r:id="rId12"/>
    <p:sldId id="304" r:id="rId13"/>
    <p:sldId id="301" r:id="rId14"/>
    <p:sldId id="306" r:id="rId15"/>
    <p:sldId id="300" r:id="rId16"/>
    <p:sldId id="289" r:id="rId17"/>
    <p:sldId id="295" r:id="rId18"/>
    <p:sldId id="291" r:id="rId19"/>
    <p:sldId id="292" r:id="rId20"/>
    <p:sldId id="294" r:id="rId21"/>
    <p:sldId id="296" r:id="rId22"/>
    <p:sldId id="293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50" r:id="rId37"/>
    <p:sldId id="349" r:id="rId38"/>
    <p:sldId id="322" r:id="rId39"/>
    <p:sldId id="324" r:id="rId40"/>
    <p:sldId id="327" r:id="rId41"/>
    <p:sldId id="325" r:id="rId42"/>
    <p:sldId id="328" r:id="rId43"/>
    <p:sldId id="326" r:id="rId44"/>
    <p:sldId id="329" r:id="rId45"/>
    <p:sldId id="330" r:id="rId46"/>
    <p:sldId id="331" r:id="rId47"/>
    <p:sldId id="332" r:id="rId48"/>
    <p:sldId id="334" r:id="rId49"/>
    <p:sldId id="333" r:id="rId50"/>
    <p:sldId id="335" r:id="rId51"/>
    <p:sldId id="336" r:id="rId52"/>
    <p:sldId id="337" r:id="rId53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C9693A-0944-455D-AEB8-76E24AE82F61}">
          <p14:sldIdLst>
            <p14:sldId id="256"/>
          </p14:sldIdLst>
        </p14:section>
        <p14:section name="DE0" id="{F864255D-999C-4A4A-B081-633CB9EF2EA5}">
          <p14:sldIdLst>
            <p14:sldId id="283"/>
            <p14:sldId id="286"/>
            <p14:sldId id="288"/>
            <p14:sldId id="305"/>
            <p14:sldId id="298"/>
            <p14:sldId id="302"/>
            <p14:sldId id="303"/>
            <p14:sldId id="304"/>
            <p14:sldId id="301"/>
            <p14:sldId id="306"/>
            <p14:sldId id="300"/>
            <p14:sldId id="289"/>
          </p14:sldIdLst>
        </p14:section>
        <p14:section name="Quartus II 安裝" id="{6E54CCCE-5DB9-4055-AB2A-36EC08A7FA80}">
          <p14:sldIdLst>
            <p14:sldId id="295"/>
            <p14:sldId id="291"/>
            <p14:sldId id="292"/>
            <p14:sldId id="294"/>
          </p14:sldIdLst>
        </p14:section>
        <p14:section name="Quartus II 使用" id="{43C1F6CB-E892-4E8E-8E5C-C50269C64BE6}">
          <p14:sldIdLst>
            <p14:sldId id="296"/>
            <p14:sldId id="293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50"/>
            <p14:sldId id="349"/>
          </p14:sldIdLst>
        </p14:section>
        <p14:section name="Quartus II 電路模擬" id="{71D4A95C-7DD2-4A29-99FC-6D70AE600024}">
          <p14:sldIdLst>
            <p14:sldId id="322"/>
            <p14:sldId id="324"/>
            <p14:sldId id="327"/>
            <p14:sldId id="325"/>
            <p14:sldId id="328"/>
            <p14:sldId id="326"/>
            <p14:sldId id="329"/>
            <p14:sldId id="330"/>
            <p14:sldId id="331"/>
            <p14:sldId id="332"/>
            <p14:sldId id="334"/>
            <p14:sldId id="333"/>
            <p14:sldId id="335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830" autoAdjust="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76FD1A9-AA27-4948-BCD8-B001FF2909B0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2023/2/11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A818C5E9-5966-460E-861F-1663B2AAAED6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B725628-3A68-42F4-BA86-981817953149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9356B5-6098-472A-AF07-A4B5DC85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zh-TW" altLang="en-US" noProof="0"/>
              <a:t>按一下以編輯母片子標題樣式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CD283D6E-31F2-43AD-BCF5-5CE3F33D4486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295164" y="6470704"/>
            <a:ext cx="6449228" cy="274320"/>
          </a:xfrm>
        </p:spPr>
        <p:txBody>
          <a:bodyPr rtlCol="0"/>
          <a:lstStyle/>
          <a:p>
            <a:pPr rtl="0"/>
            <a:r>
              <a:rPr lang="zh-TW" altLang="en-US" noProof="0" dirty="0"/>
              <a:t>僅限於逢甲大學課程：「邏輯設計」、「邏輯設計實驗」、「數位系統設計」、「數位系統設計實驗」中使用</a:t>
            </a:r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8" name="直線接點​​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B1DB39-0465-4C8D-B876-D698784FB003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4A0AFDB-F77E-400F-9B95-D54E5AD47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16F102-6557-41EA-ACF7-A16F57DC23D4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8" name="直線接點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31A44A-B61A-4410-98D6-5ACB465BF3FA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TW" altLang="en-US" noProof="0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1E06C1B-9449-4487-9D30-44A9B0E36AB5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51B09-B705-4747-BE78-30428C6C8238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93019D-EC25-49D3-A05D-81BE6D01BB55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8D770A-42EA-497B-9FF8-3656E7107046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2C47FBB4-DEE5-4117-98BA-E90B1603A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1E8440-59D9-4740-8669-C6637EE5BDBF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8" name="直線接點​​(S)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BCAB94-7A71-474C-8C5A-94615A24C471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EBA191-80DC-47B9-BE11-CE2ADB41E4C6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US" altLang="zh-TW" noProof="0" smtClean="0"/>
              <a:t>‹#›</a:t>
            </a:fld>
            <a:endParaRPr lang="zh-TW" altLang="en-US" noProof="0" dirty="0"/>
          </a:p>
        </p:txBody>
      </p:sp>
      <p:cxnSp>
        <p:nvCxnSpPr>
          <p:cNvPr id="7" name="直線接點​​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1441E1A-3C82-44E7-BBC2-A2CF65C6D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LineDrawing/>
                    </a14:imgEffect>
                  </a14:imgLayer>
                </a14:imgProps>
              </a:ext>
            </a:extLst>
          </a:blip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9C7CB5E-3807-4AFE-9E63-0A80CE885944}" type="datetime1">
              <a:rPr lang="zh-TW" altLang="en-US" noProof="0" smtClean="0"/>
              <a:t>2023/2/11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18994" y="6470704"/>
            <a:ext cx="662539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僅限於逢甲大學課程：「邏輯設計」、「邏輯設計實驗」、「數位系統設計」、「數位系統設計實驗」中使用</a:t>
            </a:r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FAB73BC-B049-4115-A692-8D63A059BFB8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7" name="直線接點​​(S)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none" spc="100" baseline="0">
          <a:solidFill>
            <a:schemeClr val="tx1">
              <a:lumMod val="95000"/>
              <a:lumOff val="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ebp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/content/www/us/en/software-kit/666220/intel-quartus-ii-web-edition-design-software-version-13-1-for-linux.html" TargetMode="External"/><Relationship Id="rId2" Type="http://schemas.openxmlformats.org/officeDocument/2006/relationships/hyperlink" Target="https://www.intel.com/content/www/us/en/software-kit/666221/intel-quartus-ii-web-edition-design-software-version-13-1-for-window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pic>
        <p:nvPicPr>
          <p:cNvPr id="1026" name="Picture 2" descr="https://s3.ap-southeast-1.amazonaws.com/web-content.fcu.edu.tw/wp-content/uploads/sites/56/2022/04/14110418/%E8%B3%87%E9%9B%BB%E5%AD%B8%E9%99%A2-%E9%99%A2%E5%BE%BD%E5%90%91%E9%87%8F%E5%9C%96%E6%AA%94.png">
            <a:extLst>
              <a:ext uri="{FF2B5EF4-FFF2-40B4-BE49-F238E27FC236}">
                <a16:creationId xmlns:a16="http://schemas.microsoft.com/office/drawing/2014/main" id="{06C352C2-91C2-4FF1-9BF4-891871715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768" y="300982"/>
            <a:ext cx="6256036" cy="625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792455" cy="1090938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zh-TW" altLang="en-US" dirty="0">
                <a:solidFill>
                  <a:srgbClr val="FFFFFF"/>
                </a:solidFill>
              </a:rPr>
              <a:t>邏輯設計實習 </a:t>
            </a:r>
            <a:r>
              <a:rPr lang="en-US" altLang="zh-TW" dirty="0">
                <a:solidFill>
                  <a:srgbClr val="FFFFFF"/>
                </a:solidFill>
              </a:rPr>
              <a:t>DE0 </a:t>
            </a:r>
            <a:r>
              <a:rPr lang="zh-TW" altLang="en-US" dirty="0">
                <a:solidFill>
                  <a:srgbClr val="FFFFFF"/>
                </a:solidFill>
              </a:rPr>
              <a:t>課程指引</a:t>
            </a:r>
            <a:endParaRPr lang="en-US" altLang="zh-TW" dirty="0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620184" cy="514816"/>
          </a:xfrm>
        </p:spPr>
        <p:txBody>
          <a:bodyPr rtlCol="0" anchor="t">
            <a:normAutofit/>
          </a:bodyPr>
          <a:lstStyle/>
          <a:p>
            <a:pPr rtl="0"/>
            <a:r>
              <a:rPr lang="zh-TW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主講人：宋家齊</a:t>
            </a:r>
            <a:r>
              <a:rPr lang="en-US" altLang="zh-TW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	</a:t>
            </a:r>
            <a:r>
              <a:rPr lang="zh-TW" altLang="en-US">
                <a:solidFill>
                  <a:srgbClr val="FFFFFF"/>
                </a:solidFill>
              </a:rPr>
              <a:t>學系</a:t>
            </a:r>
            <a:r>
              <a:rPr lang="zh-TW" altLang="en-US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zh-TW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資訊工程系</a:t>
            </a:r>
            <a:r>
              <a:rPr lang="en-US" altLang="zh-TW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</a:t>
            </a:r>
            <a:r>
              <a:rPr lang="zh-TW" altLang="en-US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日期：</a:t>
            </a:r>
            <a:r>
              <a:rPr lang="en-US" altLang="zh-TW" dirty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2023.01.11</a:t>
            </a:r>
            <a:endParaRPr lang="zh-TW" altLang="en-US" dirty="0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3" name="直線接點​​(S)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副標題 2">
            <a:extLst>
              <a:ext uri="{FF2B5EF4-FFF2-40B4-BE49-F238E27FC236}">
                <a16:creationId xmlns:a16="http://schemas.microsoft.com/office/drawing/2014/main" id="{C1493D13-A13D-4562-9114-4FF9024DAFC8}"/>
              </a:ext>
            </a:extLst>
          </p:cNvPr>
          <p:cNvSpPr txBox="1">
            <a:spLocks/>
          </p:cNvSpPr>
          <p:nvPr/>
        </p:nvSpPr>
        <p:spPr>
          <a:xfrm>
            <a:off x="4309349" y="3282458"/>
            <a:ext cx="7620183" cy="514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FFFFFF"/>
                </a:solidFill>
              </a:rPr>
              <a:t>逢甲大學　資訊電機學院　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A634F9-9DA6-4D7F-AB03-8054D0864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545F5C-3876-476B-B289-79E2D0CF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37301-6FE7-4988-865E-CBEC6EF3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/>
          <a:lstStyle/>
          <a:p>
            <a:r>
              <a:rPr lang="en-US" altLang="zh-TW" dirty="0"/>
              <a:t>DE0</a:t>
            </a:r>
            <a:r>
              <a:rPr lang="zh-TW" altLang="en-US" dirty="0"/>
              <a:t> 介紹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3A3385-2651-402D-8B97-C10585566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/>
              <a:t>在這邊介紹實驗用的 </a:t>
            </a:r>
            <a:r>
              <a:rPr lang="en-US" altLang="zh-TW" dirty="0"/>
              <a:t>FPGA </a:t>
            </a:r>
            <a:r>
              <a:rPr lang="zh-TW" altLang="en-US" dirty="0"/>
              <a:t>板 </a:t>
            </a:r>
            <a:r>
              <a:rPr lang="en-US" altLang="zh-TW" dirty="0"/>
              <a:t>DE0 </a:t>
            </a:r>
            <a:r>
              <a:rPr lang="zh-TW" altLang="en-US" dirty="0"/>
              <a:t>的基本資訊以及常用 </a:t>
            </a:r>
            <a:r>
              <a:rPr lang="en-US" altLang="zh-TW" dirty="0"/>
              <a:t>I/O </a:t>
            </a:r>
            <a:r>
              <a:rPr lang="zh-TW" altLang="en-US" dirty="0"/>
              <a:t>的特性與對應腳位</a:t>
            </a:r>
          </a:p>
        </p:txBody>
      </p:sp>
      <p:pic>
        <p:nvPicPr>
          <p:cNvPr id="10" name="圖片版面配置區 9">
            <a:extLst>
              <a:ext uri="{FF2B5EF4-FFF2-40B4-BE49-F238E27FC236}">
                <a16:creationId xmlns:a16="http://schemas.microsoft.com/office/drawing/2014/main" id="{33E393D5-14B0-4E03-B08E-BBC61E3BB8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-25" t="10638" r="25" b="39348"/>
          <a:stretch/>
        </p:blipFill>
        <p:spPr>
          <a:xfrm>
            <a:off x="0" y="-1"/>
            <a:ext cx="12188952" cy="4572000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36289A-9A04-47F6-9414-9EB804B19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A822C4-1C5D-448E-BBF0-7AE1E80C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7E5644-1E61-4311-A31E-84CB9C7AA8A9}" type="slidenum">
              <a:rPr lang="en-US" altLang="zh-TW" noProof="0" smtClean="0"/>
              <a:t>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211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5A7C85-3296-42F1-A33B-9BA37595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DE0 </a:t>
            </a:r>
            <a:r>
              <a:rPr lang="zh-TW" altLang="en-US" dirty="0"/>
              <a:t>配備</a:t>
            </a:r>
          </a:p>
        </p:txBody>
      </p:sp>
      <p:pic>
        <p:nvPicPr>
          <p:cNvPr id="1030" name="Picture 6" descr="https://www.terasic.com.tw/attachment/archive/364/image/DE0_kits.jpg">
            <a:extLst>
              <a:ext uri="{FF2B5EF4-FFF2-40B4-BE49-F238E27FC236}">
                <a16:creationId xmlns:a16="http://schemas.microsoft.com/office/drawing/2014/main" id="{6D659321-87AD-46B5-B426-23E917F964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169" y="2084832"/>
            <a:ext cx="7971989" cy="418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BBC2C4A-6814-49A6-82A1-DF1CA49A2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</p:spPr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6671378-1DBE-4C4F-BBA8-D3E4A630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125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A1FD8-5D55-416A-8455-82EC6596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DE0</a:t>
            </a:r>
            <a:r>
              <a:rPr lang="zh-TW" altLang="en-US" cap="none" dirty="0"/>
              <a:t> </a:t>
            </a:r>
            <a:r>
              <a:rPr lang="en-US" altLang="zh-TW" cap="none" dirty="0"/>
              <a:t>Layout and Components</a:t>
            </a:r>
            <a:endParaRPr lang="zh-TW" altLang="en-US" cap="none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864262E-741C-4D72-9B10-29F567187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7725" y="2084832"/>
            <a:ext cx="7136549" cy="4022725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1FDDD6-197D-48A7-AA18-A72D96639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DCF68A-2AAE-4C35-B99A-F021CC89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3828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0CA565-4BD3-49C6-A2DF-F1E851E4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FPGA </a:t>
            </a:r>
            <a:r>
              <a:rPr lang="zh-TW" altLang="en-US" dirty="0"/>
              <a:t>型號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F77EED-731A-425D-8DB7-C264DD653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系列：</a:t>
            </a:r>
            <a:r>
              <a:rPr lang="en-US" altLang="zh-TW" dirty="0"/>
              <a:t>Cyclone III</a:t>
            </a:r>
          </a:p>
          <a:p>
            <a:r>
              <a:rPr lang="zh-TW" altLang="en-US" dirty="0"/>
              <a:t>編號：</a:t>
            </a:r>
            <a:r>
              <a:rPr lang="en-US" altLang="zh-TW" dirty="0"/>
              <a:t>EP3C16F484C6N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4C3535A-E0BE-4971-8469-FAC4E02DE502}"/>
              </a:ext>
            </a:extLst>
          </p:cNvPr>
          <p:cNvGrpSpPr/>
          <p:nvPr/>
        </p:nvGrpSpPr>
        <p:grpSpPr>
          <a:xfrm>
            <a:off x="5337110" y="1962902"/>
            <a:ext cx="5407090" cy="4309882"/>
            <a:chOff x="6161399" y="1798931"/>
            <a:chExt cx="3926976" cy="3130113"/>
          </a:xfrm>
        </p:grpSpPr>
        <p:pic>
          <p:nvPicPr>
            <p:cNvPr id="4" name="內容版面配置區 3">
              <a:extLst>
                <a:ext uri="{FF2B5EF4-FFF2-40B4-BE49-F238E27FC236}">
                  <a16:creationId xmlns:a16="http://schemas.microsoft.com/office/drawing/2014/main" id="{6D79B7F7-9B60-4356-980D-1A31234B68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419"/>
            <a:stretch/>
          </p:blipFill>
          <p:spPr>
            <a:xfrm>
              <a:off x="6161399" y="1798931"/>
              <a:ext cx="3926976" cy="3130113"/>
            </a:xfrm>
            <a:prstGeom prst="rect">
              <a:avLst/>
            </a:prstGeom>
          </p:spPr>
        </p:pic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5420F076-3109-4BEB-B5FF-99F5176F97B1}"/>
                </a:ext>
              </a:extLst>
            </p:cNvPr>
            <p:cNvSpPr/>
            <p:nvPr/>
          </p:nvSpPr>
          <p:spPr>
            <a:xfrm>
              <a:off x="8170333" y="2895600"/>
              <a:ext cx="770467" cy="8128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91F559-AE13-4718-91CD-5A61EE34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92AF5DF-47BE-4AD2-B8BD-CFC8E62F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5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2683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189B2-7950-486F-BA5F-5FA8DD43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I/O - Button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84E3E8B7-4789-490E-96F9-AAE63EF8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按下</a:t>
            </a:r>
            <a:r>
              <a:rPr lang="en-US" altLang="zh-TW" dirty="0"/>
              <a:t> – logic ‘0’</a:t>
            </a:r>
          </a:p>
          <a:p>
            <a:r>
              <a:rPr lang="zh-TW" altLang="en-US" dirty="0"/>
              <a:t>放開</a:t>
            </a:r>
            <a:r>
              <a:rPr lang="en-US" altLang="zh-TW" dirty="0"/>
              <a:t> – logic ‘1’</a:t>
            </a:r>
          </a:p>
          <a:p>
            <a:endParaRPr lang="zh-TW" altLang="en-US" dirty="0"/>
          </a:p>
        </p:txBody>
      </p:sp>
      <p:pic>
        <p:nvPicPr>
          <p:cNvPr id="11" name="內容版面配置區 8">
            <a:extLst>
              <a:ext uri="{FF2B5EF4-FFF2-40B4-BE49-F238E27FC236}">
                <a16:creationId xmlns:a16="http://schemas.microsoft.com/office/drawing/2014/main" id="{C2C6EEAA-D1D1-4FA8-BA61-3DC5307BF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7" y="3429000"/>
            <a:ext cx="4588088" cy="25688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57F889E-D3B6-4B4B-8D11-5DB5D0F74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528" y="5101402"/>
            <a:ext cx="5173134" cy="1171382"/>
          </a:xfrm>
          <a:prstGeom prst="rect">
            <a:avLst/>
          </a:prstGeom>
        </p:spPr>
      </p:pic>
      <p:pic>
        <p:nvPicPr>
          <p:cNvPr id="13" name="內容版面配置區 3">
            <a:extLst>
              <a:ext uri="{FF2B5EF4-FFF2-40B4-BE49-F238E27FC236}">
                <a16:creationId xmlns:a16="http://schemas.microsoft.com/office/drawing/2014/main" id="{FAC5A184-0176-4E23-A20E-E9B2411B0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837" y="1756598"/>
            <a:ext cx="4108538" cy="3130113"/>
          </a:xfrm>
          <a:prstGeom prst="rect">
            <a:avLst/>
          </a:prstGeom>
        </p:spPr>
      </p:pic>
      <p:sp>
        <p:nvSpPr>
          <p:cNvPr id="14" name="橢圓 13">
            <a:extLst>
              <a:ext uri="{FF2B5EF4-FFF2-40B4-BE49-F238E27FC236}">
                <a16:creationId xmlns:a16="http://schemas.microsoft.com/office/drawing/2014/main" id="{5E8B6A85-2A1D-485C-9201-753C0600D4E3}"/>
              </a:ext>
            </a:extLst>
          </p:cNvPr>
          <p:cNvSpPr/>
          <p:nvPr/>
        </p:nvSpPr>
        <p:spPr>
          <a:xfrm>
            <a:off x="8229600" y="4385733"/>
            <a:ext cx="982135" cy="38946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9D7694E-9432-4E3A-AB7B-35AAAFD7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D0D897-73EC-4E29-9D64-5939B7F4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6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8083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189B2-7950-486F-BA5F-5FA8DD43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I/O - Switch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84E3E8B7-4789-490E-96F9-AAE63EF8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往上</a:t>
            </a:r>
            <a:r>
              <a:rPr lang="en-US" altLang="zh-TW" dirty="0"/>
              <a:t> – logic ‘1’</a:t>
            </a:r>
          </a:p>
          <a:p>
            <a:r>
              <a:rPr lang="zh-TW" altLang="en-US" dirty="0"/>
              <a:t>往下</a:t>
            </a:r>
            <a:r>
              <a:rPr lang="en-US" altLang="zh-TW" dirty="0"/>
              <a:t> – logic ‘0’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C793EA8-692A-43F1-9CC8-C106C894614E}"/>
              </a:ext>
            </a:extLst>
          </p:cNvPr>
          <p:cNvGrpSpPr/>
          <p:nvPr/>
        </p:nvGrpSpPr>
        <p:grpSpPr>
          <a:xfrm>
            <a:off x="6595195" y="318241"/>
            <a:ext cx="4108538" cy="3130113"/>
            <a:chOff x="5979837" y="1756598"/>
            <a:chExt cx="4108538" cy="3130113"/>
          </a:xfrm>
        </p:grpSpPr>
        <p:pic>
          <p:nvPicPr>
            <p:cNvPr id="13" name="內容版面配置區 3">
              <a:extLst>
                <a:ext uri="{FF2B5EF4-FFF2-40B4-BE49-F238E27FC236}">
                  <a16:creationId xmlns:a16="http://schemas.microsoft.com/office/drawing/2014/main" id="{FAC5A184-0176-4E23-A20E-E9B2411B0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9837" y="1756598"/>
              <a:ext cx="4108538" cy="3130113"/>
            </a:xfrm>
            <a:prstGeom prst="rect">
              <a:avLst/>
            </a:prstGeom>
          </p:spPr>
        </p:pic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E8B6A85-2A1D-485C-9201-753C0600D4E3}"/>
                </a:ext>
              </a:extLst>
            </p:cNvPr>
            <p:cNvSpPr/>
            <p:nvPr/>
          </p:nvSpPr>
          <p:spPr>
            <a:xfrm>
              <a:off x="6493934" y="4385733"/>
              <a:ext cx="1769533" cy="38946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D6812A22-47EA-42F0-A9E8-EF429ACC9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058" y="3649522"/>
            <a:ext cx="4795814" cy="2816177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EDB97784-7A7C-42D1-B33A-F3274224B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942" y="3381672"/>
            <a:ext cx="5571067" cy="26137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4B7F24-A312-496D-9EEE-120D9918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542F60-2AD1-4D76-803F-F3D687B0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7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177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189B2-7950-486F-BA5F-5FA8DD43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I/O - LEDG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84E3E8B7-4789-490E-96F9-AAE63EF8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燈亮</a:t>
            </a:r>
            <a:r>
              <a:rPr lang="en-US" altLang="zh-TW" dirty="0"/>
              <a:t> – logic ‘1’</a:t>
            </a:r>
          </a:p>
          <a:p>
            <a:r>
              <a:rPr lang="zh-TW" altLang="en-US" dirty="0"/>
              <a:t>燈暗</a:t>
            </a:r>
            <a:r>
              <a:rPr lang="en-US" altLang="zh-TW" dirty="0"/>
              <a:t> – logic ‘0’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C793EA8-692A-43F1-9CC8-C106C894614E}"/>
              </a:ext>
            </a:extLst>
          </p:cNvPr>
          <p:cNvGrpSpPr/>
          <p:nvPr/>
        </p:nvGrpSpPr>
        <p:grpSpPr>
          <a:xfrm>
            <a:off x="6595195" y="318241"/>
            <a:ext cx="4108538" cy="3130113"/>
            <a:chOff x="5979837" y="1756598"/>
            <a:chExt cx="4108538" cy="3130113"/>
          </a:xfrm>
        </p:grpSpPr>
        <p:pic>
          <p:nvPicPr>
            <p:cNvPr id="13" name="內容版面配置區 3">
              <a:extLst>
                <a:ext uri="{FF2B5EF4-FFF2-40B4-BE49-F238E27FC236}">
                  <a16:creationId xmlns:a16="http://schemas.microsoft.com/office/drawing/2014/main" id="{FAC5A184-0176-4E23-A20E-E9B2411B0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9837" y="1756598"/>
              <a:ext cx="4108538" cy="3130113"/>
            </a:xfrm>
            <a:prstGeom prst="rect">
              <a:avLst/>
            </a:prstGeom>
          </p:spPr>
        </p:pic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E8B6A85-2A1D-485C-9201-753C0600D4E3}"/>
                </a:ext>
              </a:extLst>
            </p:cNvPr>
            <p:cNvSpPr/>
            <p:nvPr/>
          </p:nvSpPr>
          <p:spPr>
            <a:xfrm>
              <a:off x="7495709" y="4075920"/>
              <a:ext cx="1597491" cy="38946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9" name="內容版面配置區 3">
            <a:extLst>
              <a:ext uri="{FF2B5EF4-FFF2-40B4-BE49-F238E27FC236}">
                <a16:creationId xmlns:a16="http://schemas.microsoft.com/office/drawing/2014/main" id="{CE1EEFE4-75A9-4BCB-A913-5028B289F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700" y="3294792"/>
            <a:ext cx="3560933" cy="34954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0808C75-7B8A-4DDC-B0B3-423028E89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56" y="3759494"/>
            <a:ext cx="4759044" cy="2790319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FF7884-DD6B-4FA6-8471-5840A9B2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BE90A1-D0B3-499B-AB3C-92A9C7AC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8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83717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189B2-7950-486F-BA5F-5FA8DD43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I/O – 7-segment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84E3E8B7-4789-490E-96F9-AAE63EF8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/>
              <a:t>共陽極七段顯示器</a:t>
            </a:r>
            <a:endParaRPr lang="en-US" altLang="zh-TW" dirty="0"/>
          </a:p>
          <a:p>
            <a:r>
              <a:rPr lang="zh-TW" altLang="en-US" dirty="0"/>
              <a:t>燈亮：邏輯 </a:t>
            </a:r>
            <a:r>
              <a:rPr lang="en-US" altLang="zh-TW" dirty="0"/>
              <a:t>‘0’</a:t>
            </a:r>
          </a:p>
          <a:p>
            <a:r>
              <a:rPr lang="zh-TW" altLang="en-US" dirty="0"/>
              <a:t>燈暗：邏輯 </a:t>
            </a:r>
            <a:r>
              <a:rPr lang="en-US" altLang="zh-TW" dirty="0"/>
              <a:t>‘1’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C793EA8-692A-43F1-9CC8-C106C894614E}"/>
              </a:ext>
            </a:extLst>
          </p:cNvPr>
          <p:cNvGrpSpPr/>
          <p:nvPr/>
        </p:nvGrpSpPr>
        <p:grpSpPr>
          <a:xfrm>
            <a:off x="7541189" y="759217"/>
            <a:ext cx="4108538" cy="3130113"/>
            <a:chOff x="5929037" y="1709725"/>
            <a:chExt cx="4108538" cy="3130113"/>
          </a:xfrm>
        </p:grpSpPr>
        <p:pic>
          <p:nvPicPr>
            <p:cNvPr id="13" name="內容版面配置區 3">
              <a:extLst>
                <a:ext uri="{FF2B5EF4-FFF2-40B4-BE49-F238E27FC236}">
                  <a16:creationId xmlns:a16="http://schemas.microsoft.com/office/drawing/2014/main" id="{FAC5A184-0176-4E23-A20E-E9B2411B0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9037" y="1709725"/>
              <a:ext cx="4108538" cy="3130113"/>
            </a:xfrm>
            <a:prstGeom prst="rect">
              <a:avLst/>
            </a:prstGeom>
          </p:spPr>
        </p:pic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E8B6A85-2A1D-485C-9201-753C0600D4E3}"/>
                </a:ext>
              </a:extLst>
            </p:cNvPr>
            <p:cNvSpPr/>
            <p:nvPr/>
          </p:nvSpPr>
          <p:spPr>
            <a:xfrm>
              <a:off x="6521283" y="4000950"/>
              <a:ext cx="954860" cy="38946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8E6045F1-38DB-4B06-B8CE-B58A432C6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35" y="4007793"/>
            <a:ext cx="6104806" cy="23825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48F0892-A27A-44FE-A0C3-00326CFAA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562" y="4007793"/>
            <a:ext cx="1956395" cy="25820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329688A3-7691-4048-8CD3-094D66E2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187214D-2856-421D-9E1D-14FA4DE2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21258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AEC7A3-5C93-4D67-A937-372EE7EE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I/O – 7-segment (cont’d)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38CDACE-5B46-4878-8715-580B8050B36D}"/>
              </a:ext>
            </a:extLst>
          </p:cNvPr>
          <p:cNvGrpSpPr/>
          <p:nvPr/>
        </p:nvGrpSpPr>
        <p:grpSpPr>
          <a:xfrm>
            <a:off x="1165068" y="2084832"/>
            <a:ext cx="9861863" cy="4430854"/>
            <a:chOff x="1135660" y="2084832"/>
            <a:chExt cx="9861863" cy="443085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BA6031DB-64F2-49D2-9239-A324B689A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5660" y="2084832"/>
              <a:ext cx="4700262" cy="2258568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CDED2B8D-5504-4D3C-975E-D8D79C73F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5660" y="4420592"/>
              <a:ext cx="4700263" cy="2006624"/>
            </a:xfrm>
            <a:prstGeom prst="rect">
              <a:avLst/>
            </a:prstGeom>
          </p:spPr>
        </p:pic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1B80FF05-AD36-41AE-ABD7-162F8E152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5897" y="2202065"/>
              <a:ext cx="4700262" cy="2024101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0EC519A7-C506-40C0-B9EE-DC21492C1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5897" y="4427028"/>
              <a:ext cx="4791626" cy="2088658"/>
            </a:xfrm>
            <a:prstGeom prst="rect">
              <a:avLst/>
            </a:prstGeom>
          </p:spPr>
        </p:pic>
      </p:grp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8DFDC8-F662-4DD9-A027-32853176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6EE6A1-8394-49D6-835D-EA1CC17BA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10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6286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4D741-975F-4C60-87BC-6DB3964D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 </a:t>
            </a:r>
            <a:r>
              <a:rPr lang="en-US" altLang="zh-TW" dirty="0"/>
              <a:t>I/O –</a:t>
            </a:r>
            <a:r>
              <a:rPr lang="zh-TW" altLang="en-US" dirty="0"/>
              <a:t> </a:t>
            </a:r>
            <a:r>
              <a:rPr lang="en-US" altLang="zh-TW" dirty="0"/>
              <a:t>50 MHz </a:t>
            </a:r>
            <a:r>
              <a:rPr lang="zh-TW" altLang="en-US" dirty="0"/>
              <a:t>時脈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F2FCAA-4700-41C8-B726-78518B375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494" y="1944515"/>
            <a:ext cx="6021339" cy="29689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6266B29-106E-4158-AC29-D127D07D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494" y="5162046"/>
            <a:ext cx="6154079" cy="1110738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73C79E-A80B-4955-8C4E-7F31B460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560A01-18B2-4A9E-96A1-9178EC2C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11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8988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C6C4A7-E12A-4E59-ADE1-419A6BE6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 </a:t>
            </a:r>
            <a:r>
              <a:rPr lang="en-US" altLang="zh-TW" dirty="0"/>
              <a:t>I/O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426172-EF7E-497D-87C9-E1B3FBAE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GPIO: </a:t>
            </a:r>
            <a:r>
              <a:rPr lang="zh-TW" altLang="en-US" dirty="0"/>
              <a:t>利用杜邦線外接設備</a:t>
            </a:r>
            <a:endParaRPr lang="en-US" altLang="zh-TW" dirty="0"/>
          </a:p>
          <a:p>
            <a:r>
              <a:rPr lang="en-US" altLang="zh-TW" dirty="0"/>
              <a:t>PS/2: </a:t>
            </a:r>
            <a:r>
              <a:rPr lang="zh-TW" altLang="en-US" dirty="0"/>
              <a:t>鍵盤、滑鼠</a:t>
            </a:r>
            <a:endParaRPr lang="en-US" altLang="zh-TW" dirty="0"/>
          </a:p>
          <a:p>
            <a:r>
              <a:rPr lang="en-US" altLang="zh-TW" dirty="0"/>
              <a:t>SD</a:t>
            </a:r>
            <a:r>
              <a:rPr lang="zh-TW" altLang="en-US" dirty="0"/>
              <a:t> 卡槽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SD</a:t>
            </a:r>
            <a:r>
              <a:rPr lang="zh-TW" altLang="en-US" dirty="0"/>
              <a:t> 卡</a:t>
            </a:r>
            <a:endParaRPr lang="en-US" altLang="zh-TW" dirty="0"/>
          </a:p>
          <a:p>
            <a:r>
              <a:rPr lang="en-US" altLang="zh-TW" dirty="0"/>
              <a:t>VGA:</a:t>
            </a:r>
            <a:r>
              <a:rPr lang="zh-TW" altLang="en-US" dirty="0"/>
              <a:t> 螢幕</a:t>
            </a:r>
            <a:endParaRPr lang="en-US" altLang="zh-TW" dirty="0"/>
          </a:p>
          <a:p>
            <a:r>
              <a:rPr lang="en-US" altLang="zh-TW" dirty="0"/>
              <a:t>16</a:t>
            </a:r>
            <a:r>
              <a:rPr lang="zh-TW" altLang="en-US" dirty="0"/>
              <a:t>*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LCD</a:t>
            </a:r>
            <a:r>
              <a:rPr lang="zh-TW" altLang="en-US" dirty="0"/>
              <a:t> 介面（需另外焊接）</a:t>
            </a:r>
            <a:endParaRPr lang="en-US" altLang="zh-TW" dirty="0"/>
          </a:p>
          <a:p>
            <a:r>
              <a:rPr lang="en-US" altLang="zh-TW" dirty="0"/>
              <a:t>RS-232</a:t>
            </a:r>
            <a:r>
              <a:rPr lang="zh-TW" altLang="en-US" dirty="0"/>
              <a:t> （需另外焊接）</a:t>
            </a:r>
            <a:endParaRPr lang="en-US" altLang="zh-TW" dirty="0"/>
          </a:p>
          <a:p>
            <a:endParaRPr lang="en-US" altLang="zh-TW" i="1" u="sng" dirty="0"/>
          </a:p>
          <a:p>
            <a:r>
              <a:rPr lang="zh-TW" altLang="en-US" i="1" u="sng" dirty="0"/>
              <a:t>詳細見官方文件：</a:t>
            </a:r>
            <a:r>
              <a:rPr lang="en-US" altLang="zh-TW" i="1" u="sng" dirty="0"/>
              <a:t>DE0_User_manual_2012.pdf</a:t>
            </a:r>
            <a:endParaRPr lang="zh-TW" altLang="en-US" i="1" u="sng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E527B7A-B84D-4089-99EE-2F105175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0CDEEA-C568-4620-9726-3CFCA204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88681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BC8E44-4F34-45A4-982F-F699922B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TW" altLang="en-US" dirty="0"/>
              <a:t>連接電腦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3CB7932F-F1FF-4B91-BD29-AEE7A87E9304}"/>
              </a:ext>
            </a:extLst>
          </p:cNvPr>
          <p:cNvGrpSpPr/>
          <p:nvPr/>
        </p:nvGrpSpPr>
        <p:grpSpPr>
          <a:xfrm>
            <a:off x="1403641" y="2022270"/>
            <a:ext cx="9340559" cy="4147878"/>
            <a:chOff x="1282342" y="1966286"/>
            <a:chExt cx="9340559" cy="4147878"/>
          </a:xfrm>
        </p:grpSpPr>
        <p:pic>
          <p:nvPicPr>
            <p:cNvPr id="2050" name="Picture 2" descr="https://cdn-icons-png.flaticon.com/512/3439/3439971.png">
              <a:extLst>
                <a:ext uri="{FF2B5EF4-FFF2-40B4-BE49-F238E27FC236}">
                  <a16:creationId xmlns:a16="http://schemas.microsoft.com/office/drawing/2014/main" id="{5BB7007A-C45D-4416-9E28-3B9C45123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6538" y="2695230"/>
              <a:ext cx="3326363" cy="3326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C30F5FCB-2FB7-4265-80F9-75A271B0814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2170727" y="5475122"/>
              <a:ext cx="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6136E674-E25E-45CB-BC84-A2975D68B42B}"/>
                </a:ext>
              </a:extLst>
            </p:cNvPr>
            <p:cNvGrpSpPr/>
            <p:nvPr/>
          </p:nvGrpSpPr>
          <p:grpSpPr>
            <a:xfrm>
              <a:off x="1282342" y="2984051"/>
              <a:ext cx="5178807" cy="3130113"/>
              <a:chOff x="135743" y="3142671"/>
              <a:chExt cx="5178807" cy="3130113"/>
            </a:xfrm>
          </p:grpSpPr>
          <p:pic>
            <p:nvPicPr>
              <p:cNvPr id="16" name="內容版面配置區 3">
                <a:extLst>
                  <a:ext uri="{FF2B5EF4-FFF2-40B4-BE49-F238E27FC236}">
                    <a16:creationId xmlns:a16="http://schemas.microsoft.com/office/drawing/2014/main" id="{5D2041C6-D5F8-4FDE-B3D3-E196CEB25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6012" y="3142671"/>
                <a:ext cx="4108538" cy="3130113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D4C0838-12D7-4963-B2EA-086379359258}"/>
                  </a:ext>
                </a:extLst>
              </p:cNvPr>
              <p:cNvSpPr txBox="1"/>
              <p:nvPr/>
            </p:nvSpPr>
            <p:spPr>
              <a:xfrm>
                <a:off x="135743" y="5449076"/>
                <a:ext cx="888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dirty="0">
                    <a:solidFill>
                      <a:srgbClr val="FF0000"/>
                    </a:solidFill>
                  </a:rPr>
                  <a:t>↑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RUN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5E355EC-F092-4B83-BC06-D5040EAC7A24}"/>
                  </a:ext>
                </a:extLst>
              </p:cNvPr>
              <p:cNvSpPr txBox="1"/>
              <p:nvPr/>
            </p:nvSpPr>
            <p:spPr>
              <a:xfrm>
                <a:off x="616840" y="3757947"/>
                <a:ext cx="5164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accent1"/>
                    </a:solidFill>
                  </a:rPr>
                  <a:t>ON</a:t>
                </a:r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</p:grp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79F5143E-CA9F-46AA-82FC-D3DBDF9F759D}"/>
                </a:ext>
              </a:extLst>
            </p:cNvPr>
            <p:cNvCxnSpPr>
              <a:stCxn id="25" idx="3"/>
            </p:cNvCxnSpPr>
            <p:nvPr/>
          </p:nvCxnSpPr>
          <p:spPr>
            <a:xfrm>
              <a:off x="2279927" y="3783993"/>
              <a:ext cx="441472" cy="13437"/>
            </a:xfrm>
            <a:prstGeom prst="line">
              <a:avLst/>
            </a:prstGeom>
            <a:ln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BDDB4086-9C6F-4A31-8213-C7ACD0D48966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2170727" y="5475122"/>
              <a:ext cx="506222" cy="0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1F3A4BF-33AF-42C2-8D52-493B71727065}"/>
                </a:ext>
              </a:extLst>
            </p:cNvPr>
            <p:cNvSpPr/>
            <p:nvPr/>
          </p:nvSpPr>
          <p:spPr>
            <a:xfrm>
              <a:off x="3417985" y="2438294"/>
              <a:ext cx="124797" cy="73411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F24DE4F-03DB-44E4-A739-1D6C8A95A75B}"/>
                </a:ext>
              </a:extLst>
            </p:cNvPr>
            <p:cNvSpPr/>
            <p:nvPr/>
          </p:nvSpPr>
          <p:spPr>
            <a:xfrm rot="5400000">
              <a:off x="5589709" y="266571"/>
              <a:ext cx="112050" cy="445549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554492D-262A-4377-AE3A-DEB745898A86}"/>
                </a:ext>
              </a:extLst>
            </p:cNvPr>
            <p:cNvSpPr/>
            <p:nvPr/>
          </p:nvSpPr>
          <p:spPr>
            <a:xfrm>
              <a:off x="7748685" y="2438293"/>
              <a:ext cx="124797" cy="107934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052" name="Picture 4" descr="https://encrypted-tbn0.gstatic.com/images?q=tbn:ANd9GcRpp7AGLuhtDLvu7azuGYm17hevagEfNuSz2g&amp;usqp=CAU">
              <a:extLst>
                <a:ext uri="{FF2B5EF4-FFF2-40B4-BE49-F238E27FC236}">
                  <a16:creationId xmlns:a16="http://schemas.microsoft.com/office/drawing/2014/main" id="{7386AA9C-036B-4E55-854B-000C721602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9927" y="1966286"/>
              <a:ext cx="1000426" cy="1000426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0E4653AC-5C65-46C7-BFF4-E2F38375D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8447" y="2313874"/>
              <a:ext cx="1039744" cy="1000426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5C60C3-70A4-4719-8F49-07296DB9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D25BFB-2DF3-4B61-AD66-57605445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32759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37301-6FE7-4988-865E-CBEC6EF3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Quartus II </a:t>
            </a:r>
            <a:r>
              <a:rPr lang="zh-TW" altLang="en-US" dirty="0"/>
              <a:t>安裝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3A3385-2651-402D-8B97-C10585566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/>
              <a:t>在這邊介紹 </a:t>
            </a:r>
            <a:r>
              <a:rPr lang="en-US" altLang="zh-TW" dirty="0"/>
              <a:t>Quartus 13.1 </a:t>
            </a:r>
            <a:r>
              <a:rPr lang="zh-TW" altLang="en-US" dirty="0"/>
              <a:t>與燒錄用驅動 </a:t>
            </a:r>
            <a:r>
              <a:rPr lang="en-US" altLang="zh-TW" dirty="0"/>
              <a:t>USB-Blaster </a:t>
            </a:r>
            <a:r>
              <a:rPr lang="zh-TW" altLang="en-US" dirty="0"/>
              <a:t>的安裝與設定過程</a:t>
            </a:r>
          </a:p>
        </p:txBody>
      </p:sp>
      <p:pic>
        <p:nvPicPr>
          <p:cNvPr id="15" name="圖片版面配置區 14">
            <a:extLst>
              <a:ext uri="{FF2B5EF4-FFF2-40B4-BE49-F238E27FC236}">
                <a16:creationId xmlns:a16="http://schemas.microsoft.com/office/drawing/2014/main" id="{16EE4E4E-500F-4BA0-8B04-5F44009F857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1" r="13535" b="827"/>
          <a:stretch/>
        </p:blipFill>
        <p:spPr>
          <a:xfrm>
            <a:off x="0" y="-1"/>
            <a:ext cx="12188952" cy="4572000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DCAB5CA-A118-4E17-BAE9-CF381D4C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32ADA6-C0E2-4D5C-A805-5AA322E0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7E5644-1E61-4311-A31E-84CB9C7AA8A9}" type="slidenum">
              <a:rPr lang="en-US" altLang="zh-TW" noProof="0" smtClean="0"/>
              <a:t>14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11650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FC8CA-E8C6-48B6-AC33-86706359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Quartus II </a:t>
            </a:r>
            <a:r>
              <a:rPr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79F148-DFF0-49AE-8D16-36985355E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9720072" cy="4023360"/>
          </a:xfrm>
        </p:spPr>
        <p:txBody>
          <a:bodyPr/>
          <a:lstStyle/>
          <a:p>
            <a:r>
              <a:rPr lang="zh-TW" altLang="en-US" dirty="0"/>
              <a:t>版本：</a:t>
            </a:r>
            <a:r>
              <a:rPr lang="en-US" altLang="zh-TW" strike="sngStrike" dirty="0"/>
              <a:t>9.0</a:t>
            </a:r>
            <a:r>
              <a:rPr lang="zh-TW" altLang="en-US" strike="sngStrike" dirty="0"/>
              <a:t>（資電 </a:t>
            </a:r>
            <a:r>
              <a:rPr lang="en-US" altLang="zh-TW" strike="sngStrike" dirty="0"/>
              <a:t>502</a:t>
            </a:r>
            <a:r>
              <a:rPr lang="zh-TW" altLang="en-US" strike="sngStrike" dirty="0"/>
              <a:t>）</a:t>
            </a:r>
            <a:r>
              <a:rPr lang="zh-TW" altLang="en-US" dirty="0"/>
              <a:t>、</a:t>
            </a:r>
            <a:r>
              <a:rPr lang="en-US" altLang="zh-TW" dirty="0"/>
              <a:t>13.0 </a:t>
            </a:r>
            <a:r>
              <a:rPr lang="en-US" altLang="zh-TW" dirty="0" err="1"/>
              <a:t>sp</a:t>
            </a:r>
            <a:r>
              <a:rPr lang="en-US" altLang="zh-TW" dirty="0"/>
              <a:t> 1 web edition</a:t>
            </a:r>
            <a:r>
              <a:rPr lang="zh-TW" altLang="en-US" dirty="0"/>
              <a:t>（其他教室）</a:t>
            </a:r>
            <a:endParaRPr lang="en-US" altLang="zh-TW" dirty="0"/>
          </a:p>
          <a:p>
            <a:r>
              <a:rPr lang="en-US" altLang="zh-TW" dirty="0"/>
              <a:t>Windows: </a:t>
            </a:r>
            <a:r>
              <a:rPr lang="en-US" altLang="zh-TW" dirty="0">
                <a:hlinkClick r:id="rId2"/>
              </a:rPr>
              <a:t>Intel® Quartus® II Web Edition Design Software Version 13.1 for Windows</a:t>
            </a:r>
            <a:endParaRPr lang="en-US" altLang="zh-TW" dirty="0"/>
          </a:p>
          <a:p>
            <a:r>
              <a:rPr lang="en-US" altLang="zh-TW" dirty="0"/>
              <a:t>Linux: </a:t>
            </a:r>
            <a:r>
              <a:rPr lang="en-US" altLang="zh-TW" dirty="0">
                <a:hlinkClick r:id="rId3"/>
              </a:rPr>
              <a:t>Intel® Quartus® II Web Edition Design Software Version 13.1 for Linux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55F4E1-3541-47AD-A82D-311F94C3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B2EC60-2BDD-4820-8C74-7113DA491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15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248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C57DF-651E-4FBC-9BF8-335B8EEC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Quartus II</a:t>
            </a:r>
            <a:r>
              <a:rPr lang="zh-TW" altLang="en-US" dirty="0"/>
              <a:t> 安裝（</a:t>
            </a:r>
            <a:r>
              <a:rPr lang="en-US" altLang="zh-TW" dirty="0"/>
              <a:t>windows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0F22E7-38F0-4D1F-A089-4A5C198A1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448059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到官方下載 </a:t>
            </a:r>
            <a:r>
              <a:rPr lang="en-US" altLang="zh-TW" dirty="0"/>
              <a:t>.tar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解壓縮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以系統管理員執行 </a:t>
            </a:r>
            <a:r>
              <a:rPr lang="en-US" altLang="zh-TW" dirty="0"/>
              <a:t>setup.bat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依照步驟安裝（預設安裝）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記住你的安裝路徑，安裝驅動會用到</a:t>
            </a:r>
            <a:br>
              <a:rPr lang="en-US" altLang="zh-TW" dirty="0"/>
            </a:br>
            <a:r>
              <a:rPr lang="zh-TW" altLang="en-US" dirty="0"/>
              <a:t>預設路徑：</a:t>
            </a:r>
            <a:r>
              <a:rPr lang="en-US" altLang="zh-TW" dirty="0"/>
              <a:t> </a:t>
            </a:r>
            <a:r>
              <a:rPr lang="en-US" altLang="zh-TW" u="sng" dirty="0"/>
              <a:t>C:\altera\13.1</a:t>
            </a:r>
            <a:endParaRPr lang="zh-TW" altLang="en-US" u="sng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7749551-8E3F-43BB-9435-0AA034DBA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88" y="1786275"/>
            <a:ext cx="3978712" cy="2508047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0B99885C-D62D-4ED0-AA94-2C6126998FC2}"/>
              </a:ext>
            </a:extLst>
          </p:cNvPr>
          <p:cNvSpPr/>
          <p:nvPr/>
        </p:nvSpPr>
        <p:spPr>
          <a:xfrm rot="13511156">
            <a:off x="8495535" y="3356546"/>
            <a:ext cx="307910" cy="26125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1">
            <a:extLst>
              <a:ext uri="{FF2B5EF4-FFF2-40B4-BE49-F238E27FC236}">
                <a16:creationId xmlns:a16="http://schemas.microsoft.com/office/drawing/2014/main" id="{30ED73E9-C9F0-4270-93A3-4EAD53C0E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443" y="3961651"/>
            <a:ext cx="2998801" cy="2428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9EA11F-5699-4B8B-9D09-F9FF5F9E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DB00442-FA05-40CB-9961-FD4F1D0D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16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652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9DB10A-F674-44B2-B4E1-717479FC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USB Blaster </a:t>
            </a:r>
            <a:r>
              <a:rPr lang="zh-TW" altLang="en-US" dirty="0"/>
              <a:t>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711030-7277-496E-8805-AACB1797E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880525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連接 </a:t>
            </a:r>
            <a:r>
              <a:rPr lang="en-US" altLang="zh-TW" dirty="0"/>
              <a:t>DE0 </a:t>
            </a:r>
            <a:r>
              <a:rPr lang="zh-TW" altLang="en-US" dirty="0"/>
              <a:t>到電腦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開啟裝置管理員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找到「其他裝置</a:t>
            </a:r>
            <a:r>
              <a:rPr lang="en-US" altLang="zh-TW" dirty="0"/>
              <a:t>/USB-Blaster</a:t>
            </a:r>
            <a:r>
              <a:rPr lang="zh-TW" altLang="en-US" dirty="0"/>
              <a:t>」</a:t>
            </a:r>
            <a:br>
              <a:rPr lang="en-US" altLang="zh-TW" dirty="0"/>
            </a:br>
            <a:r>
              <a:rPr lang="zh-TW" altLang="en-US" dirty="0"/>
              <a:t>右鍵「更新驅動程式軟體」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選擇「瀏覽電腦上的裝置」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路徑設定</a:t>
            </a:r>
            <a:br>
              <a:rPr lang="en-US" altLang="zh-TW" dirty="0"/>
            </a:br>
            <a:r>
              <a:rPr lang="en-US" altLang="zh-TW" u="sng" dirty="0"/>
              <a:t>&lt;</a:t>
            </a:r>
            <a:r>
              <a:rPr lang="zh-TW" altLang="en-US" u="sng" dirty="0"/>
              <a:t>安裝路徑</a:t>
            </a:r>
            <a:r>
              <a:rPr lang="en-US" altLang="zh-TW" u="sng" dirty="0"/>
              <a:t>&gt;/</a:t>
            </a:r>
            <a:r>
              <a:rPr lang="en-US" altLang="zh-TW" u="sng" dirty="0" err="1"/>
              <a:t>quartus</a:t>
            </a:r>
            <a:r>
              <a:rPr lang="en-US" altLang="zh-TW" u="sng" dirty="0"/>
              <a:t>/drivers/</a:t>
            </a:r>
            <a:r>
              <a:rPr lang="en-US" altLang="zh-TW" u="sng" dirty="0" err="1"/>
              <a:t>usb</a:t>
            </a:r>
            <a:r>
              <a:rPr lang="en-US" altLang="zh-TW" u="sng" dirty="0"/>
              <a:t>-blaster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完成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422D709-CCF3-4E8A-BFEE-B346D2155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523" y="248154"/>
            <a:ext cx="4119414" cy="2962961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1">
            <a:extLst>
              <a:ext uri="{FF2B5EF4-FFF2-40B4-BE49-F238E27FC236}">
                <a16:creationId xmlns:a16="http://schemas.microsoft.com/office/drawing/2014/main" id="{6FBA338B-B28A-4B01-BCDC-46609FC7C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852" y="3289859"/>
            <a:ext cx="4110481" cy="304537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8BBD5C-F69C-45F2-B337-87209660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9EDADC1-04EA-4664-ACD3-18EDD336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17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7469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37301-6FE7-4988-865E-CBEC6EF37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Quartus II </a:t>
            </a:r>
            <a:r>
              <a:rPr lang="zh-TW" altLang="en-US" dirty="0"/>
              <a:t>使用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3A3385-2651-402D-8B97-C10585566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/>
          <a:lstStyle/>
          <a:p>
            <a:r>
              <a:rPr lang="zh-TW" altLang="en-US" dirty="0"/>
              <a:t>以半加器來示範基本的利用 </a:t>
            </a:r>
            <a:r>
              <a:rPr lang="en-US" altLang="zh-TW" dirty="0"/>
              <a:t>Quartus II </a:t>
            </a:r>
            <a:r>
              <a:rPr lang="zh-TW" altLang="en-US" dirty="0"/>
              <a:t>來開發 </a:t>
            </a:r>
            <a:r>
              <a:rPr lang="en-US" altLang="zh-TW" dirty="0"/>
              <a:t>FPGA</a:t>
            </a:r>
            <a:r>
              <a:rPr lang="zh-TW" altLang="en-US" dirty="0"/>
              <a:t> 應用，另外補充階層架構的設計方式</a:t>
            </a:r>
          </a:p>
        </p:txBody>
      </p:sp>
      <p:pic>
        <p:nvPicPr>
          <p:cNvPr id="11" name="圖片版面配置區 10">
            <a:extLst>
              <a:ext uri="{FF2B5EF4-FFF2-40B4-BE49-F238E27FC236}">
                <a16:creationId xmlns:a16="http://schemas.microsoft.com/office/drawing/2014/main" id="{06D437A3-6E34-459B-818C-BFDE9B4AD4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b="27322"/>
          <a:stretch/>
        </p:blipFill>
        <p:spPr>
          <a:xfrm>
            <a:off x="0" y="-1"/>
            <a:ext cx="12188952" cy="4572000"/>
          </a:xfrm>
        </p:spPr>
      </p:pic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3C25ECD-9212-4D16-A0F1-AC67DF10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F09421-1F15-496F-81CA-66D455B0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7E5644-1E61-4311-A31E-84CB9C7AA8A9}" type="slidenum">
              <a:rPr lang="en-US" altLang="zh-TW" noProof="0" smtClean="0"/>
              <a:t>18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35967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0469B9-0BE6-4376-AC11-F10F9A53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示範專案：半加器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FDBB13-18E1-43AC-BD49-898542DA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利用圖形輸入法，設計出一個 </a:t>
            </a:r>
            <a:r>
              <a:rPr lang="en-US" altLang="zh-TW" dirty="0"/>
              <a:t>1-bit </a:t>
            </a:r>
            <a:r>
              <a:rPr lang="zh-TW" altLang="en-US" dirty="0"/>
              <a:t>半加器。</a:t>
            </a:r>
            <a:endParaRPr lang="en-US" altLang="zh-TW" dirty="0"/>
          </a:p>
          <a:p>
            <a:r>
              <a:rPr lang="en-US" altLang="zh-TW" dirty="0"/>
              <a:t>S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/>
              <a:t>x </a:t>
            </a:r>
            <a:r>
              <a:rPr lang="en-US" altLang="zh-TW" dirty="0" err="1"/>
              <a:t>xor</a:t>
            </a:r>
            <a:r>
              <a:rPr lang="en-US" altLang="zh-TW" dirty="0"/>
              <a:t> y, C = x and y</a:t>
            </a:r>
          </a:p>
          <a:p>
            <a:endParaRPr lang="en-US" altLang="zh-TW" dirty="0"/>
          </a:p>
          <a:p>
            <a:pPr marL="128016" lvl="1" indent="0">
              <a:buNone/>
            </a:pPr>
            <a:endParaRPr lang="zh-TW" alt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34753DF-687C-43F7-BCB9-47A6F3FE3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552" y="3674791"/>
            <a:ext cx="5036155" cy="1958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C2250E92-6969-4D26-93B4-BA4F6625EF9D}"/>
              </a:ext>
            </a:extLst>
          </p:cNvPr>
          <p:cNvGrpSpPr/>
          <p:nvPr/>
        </p:nvGrpSpPr>
        <p:grpSpPr>
          <a:xfrm>
            <a:off x="185192" y="4089300"/>
            <a:ext cx="5910808" cy="1983112"/>
            <a:chOff x="185192" y="4089300"/>
            <a:chExt cx="5910808" cy="1983112"/>
          </a:xfrm>
        </p:grpSpPr>
        <p:pic>
          <p:nvPicPr>
            <p:cNvPr id="5" name="內容版面配置區 3">
              <a:extLst>
                <a:ext uri="{FF2B5EF4-FFF2-40B4-BE49-F238E27FC236}">
                  <a16:creationId xmlns:a16="http://schemas.microsoft.com/office/drawing/2014/main" id="{DA8A4BC8-DBDC-4465-A081-D160B3F718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5713"/>
            <a:stretch/>
          </p:blipFill>
          <p:spPr>
            <a:xfrm>
              <a:off x="185192" y="4089300"/>
              <a:ext cx="5910808" cy="1543996"/>
            </a:xfrm>
            <a:prstGeom prst="rect">
              <a:avLst/>
            </a:prstGeom>
          </p:spPr>
        </p:pic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0619C7DD-6A00-48A4-AC10-844D382E91BA}"/>
                </a:ext>
              </a:extLst>
            </p:cNvPr>
            <p:cNvSpPr txBox="1"/>
            <p:nvPr/>
          </p:nvSpPr>
          <p:spPr>
            <a:xfrm>
              <a:off x="2898182" y="5703080"/>
              <a:ext cx="285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x</a:t>
              </a:r>
              <a:endParaRPr lang="zh-TW" altLang="en-US" dirty="0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C9C62F8-10E8-4CF8-BF62-3DF2CA7BFC5B}"/>
                </a:ext>
              </a:extLst>
            </p:cNvPr>
            <p:cNvSpPr txBox="1"/>
            <p:nvPr/>
          </p:nvSpPr>
          <p:spPr>
            <a:xfrm>
              <a:off x="3140596" y="5703080"/>
              <a:ext cx="285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y</a:t>
              </a:r>
              <a:endParaRPr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CF3F2C0-2D9A-4B89-833D-3E01F1AA07AC}"/>
                </a:ext>
              </a:extLst>
            </p:cNvPr>
            <p:cNvSpPr txBox="1"/>
            <p:nvPr/>
          </p:nvSpPr>
          <p:spPr>
            <a:xfrm>
              <a:off x="4182732" y="5703080"/>
              <a:ext cx="285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77739C08-28C8-4EAB-BD7C-603F01E88A33}"/>
                </a:ext>
              </a:extLst>
            </p:cNvPr>
            <p:cNvSpPr txBox="1"/>
            <p:nvPr/>
          </p:nvSpPr>
          <p:spPr>
            <a:xfrm>
              <a:off x="4393228" y="5703080"/>
              <a:ext cx="2852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S</a:t>
              </a:r>
              <a:endParaRPr lang="zh-TW" altLang="en-US" dirty="0"/>
            </a:p>
          </p:txBody>
        </p: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124FAA9-BF5C-4A65-91F6-7AA7DB0F230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535867" y="4768850"/>
            <a:ext cx="0" cy="93423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E14E168-1A94-46FB-9C49-11C1992AA47B}"/>
              </a:ext>
            </a:extLst>
          </p:cNvPr>
          <p:cNvCxnSpPr>
            <a:stCxn id="13" idx="0"/>
          </p:cNvCxnSpPr>
          <p:nvPr/>
        </p:nvCxnSpPr>
        <p:spPr>
          <a:xfrm flipH="1" flipV="1">
            <a:off x="4321909" y="4768850"/>
            <a:ext cx="3462" cy="93423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5C33EA8-ABC3-47F2-932F-9E9AD692766B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040821" y="5257800"/>
            <a:ext cx="0" cy="44528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CBD6EC82-C224-4482-B155-E365766F9BA2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283235" y="5257800"/>
            <a:ext cx="0" cy="445280"/>
          </a:xfrm>
          <a:prstGeom prst="line">
            <a:avLst/>
          </a:prstGeom>
          <a:ln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83046530-8B3E-4E10-90CB-CE10517E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41F21FCC-A095-4D64-8AA0-A126495A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19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14916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7D36A-1539-4482-B48E-CA6A3C64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FPGA </a:t>
            </a:r>
            <a:r>
              <a:rPr lang="zh-TW" altLang="en-US" dirty="0"/>
              <a:t>設計流程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118E8A-2D76-462F-B492-5F39E3EEE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設計輸入（圖形或 </a:t>
            </a:r>
            <a:r>
              <a:rPr lang="en-US" altLang="zh-TW" dirty="0"/>
              <a:t>HDL</a:t>
            </a:r>
            <a:r>
              <a:rPr lang="zh-TW" altLang="en-US" dirty="0"/>
              <a:t>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第一次編譯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功能模擬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指定 </a:t>
            </a:r>
            <a:r>
              <a:rPr lang="en-US" altLang="zh-TW" dirty="0"/>
              <a:t>I/O </a:t>
            </a:r>
            <a:r>
              <a:rPr lang="zh-TW" altLang="en-US" dirty="0"/>
              <a:t>腳位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第二次編譯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燒錄 </a:t>
            </a:r>
            <a:r>
              <a:rPr lang="en-US" altLang="zh-TW" dirty="0"/>
              <a:t>DE0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FD5924-4194-4DDD-A77E-F2657355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451BD-F345-4850-9C3B-57C5F792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20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68842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A46D56-F5E9-41B2-9CC6-033DD334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新建專案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4F945-FE86-404E-8E8E-E388DF93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594" y="2213002"/>
            <a:ext cx="9720073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啟動 </a:t>
            </a:r>
            <a:r>
              <a:rPr lang="en-US" altLang="zh-TW" dirty="0"/>
              <a:t>Quartus II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開啟「 </a:t>
            </a:r>
            <a:r>
              <a:rPr lang="en-US" altLang="zh-TW" dirty="0"/>
              <a:t>File → New Project Wizard</a:t>
            </a:r>
            <a:r>
              <a:rPr lang="zh-TW" altLang="en-US" dirty="0"/>
              <a:t>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設定專案位置與名稱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b="1" dirty="0">
                <a:solidFill>
                  <a:srgbClr val="FF0000"/>
                </a:solidFill>
              </a:rPr>
              <a:t>檔名三不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不要中文</a:t>
            </a:r>
            <a:endParaRPr lang="en-US" altLang="zh-TW" dirty="0"/>
          </a:p>
          <a:p>
            <a:pPr lvl="1"/>
            <a:r>
              <a:rPr lang="zh-TW" altLang="en-US" dirty="0"/>
              <a:t>不要空格</a:t>
            </a:r>
            <a:endParaRPr lang="en-US" altLang="zh-TW" dirty="0"/>
          </a:p>
          <a:p>
            <a:pPr lvl="1"/>
            <a:r>
              <a:rPr lang="zh-TW" altLang="en-US" dirty="0"/>
              <a:t>開頭不要數字</a:t>
            </a:r>
            <a:endParaRPr lang="en-US" altLang="zh-TW" dirty="0"/>
          </a:p>
        </p:txBody>
      </p:sp>
      <p:pic>
        <p:nvPicPr>
          <p:cNvPr id="4" name="圖片 1">
            <a:extLst>
              <a:ext uri="{FF2B5EF4-FFF2-40B4-BE49-F238E27FC236}">
                <a16:creationId xmlns:a16="http://schemas.microsoft.com/office/drawing/2014/main" id="{B417DEC4-BA51-407A-ACB8-9168478DE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799" y="1547368"/>
            <a:ext cx="5303334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86408E0-BB54-4DF6-AE63-410FF28F27A9}"/>
              </a:ext>
            </a:extLst>
          </p:cNvPr>
          <p:cNvSpPr/>
          <p:nvPr/>
        </p:nvSpPr>
        <p:spPr>
          <a:xfrm>
            <a:off x="8386048" y="223849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工作目錄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A405D9-C49A-4A50-92A6-1B4208C49905}"/>
              </a:ext>
            </a:extLst>
          </p:cNvPr>
          <p:cNvSpPr/>
          <p:nvPr/>
        </p:nvSpPr>
        <p:spPr>
          <a:xfrm>
            <a:off x="7780234" y="260069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專案名稱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EBD111-1772-4996-A02F-F2AFFEDAF08D}"/>
              </a:ext>
            </a:extLst>
          </p:cNvPr>
          <p:cNvSpPr/>
          <p:nvPr/>
        </p:nvSpPr>
        <p:spPr>
          <a:xfrm>
            <a:off x="7511171" y="305966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最上層設計實體名稱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5E1E77-0DAC-418C-BB23-36D6C2B1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B6B4B3-A38F-4409-8DFD-E4428C48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21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41107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DAD1B-3669-4A29-99B6-32CFB2D5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新建專案（</a:t>
            </a:r>
            <a:r>
              <a:rPr lang="en-US" altLang="zh-TW" dirty="0"/>
              <a:t>cont’d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B05AC8-8B6C-4EA4-8169-9A6EE8660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zh-TW" altLang="en-US" dirty="0"/>
              <a:t>增加現有設計檔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沒有現有設計檔時直接下一步</a:t>
            </a:r>
            <a:endParaRPr lang="en-US" altLang="zh-TW" dirty="0"/>
          </a:p>
          <a:p>
            <a:r>
              <a:rPr lang="zh-TW" altLang="en-US" dirty="0"/>
              <a:t>有的話填寫 </a:t>
            </a:r>
            <a:r>
              <a:rPr lang="en-US" altLang="zh-TW" dirty="0"/>
              <a:t>file name </a:t>
            </a:r>
            <a:r>
              <a:rPr lang="zh-TW" altLang="en-US" dirty="0"/>
              <a:t>按 </a:t>
            </a:r>
            <a:r>
              <a:rPr lang="en-US" altLang="zh-TW" dirty="0"/>
              <a:t>add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840AC37-1A83-4008-B9A7-662ADE121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332" y="1856660"/>
            <a:ext cx="5399935" cy="4416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343B82-6479-4B30-B656-83337B17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53E48A-62B6-4D37-A569-6C84F54C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254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A97775-DEDD-4B23-8FAB-B47514A78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新建專案（</a:t>
            </a:r>
            <a:r>
              <a:rPr lang="en-US" altLang="zh-TW" dirty="0"/>
              <a:t>cont’d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0F9254-475B-4CAC-9953-4ED9BABCE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zh-TW" altLang="en-US" dirty="0"/>
              <a:t>選擇 </a:t>
            </a:r>
            <a:r>
              <a:rPr lang="en-US" altLang="zh-TW" dirty="0"/>
              <a:t>FPGA </a:t>
            </a:r>
            <a:r>
              <a:rPr lang="zh-TW" altLang="en-US" dirty="0"/>
              <a:t>版本</a:t>
            </a:r>
            <a:endParaRPr lang="en-US" altLang="zh-TW" dirty="0"/>
          </a:p>
          <a:p>
            <a:pPr marL="457200" indent="-457200">
              <a:buFont typeface="+mj-lt"/>
              <a:buAutoNum type="arabicPeriod" startAt="4"/>
            </a:pPr>
            <a:endParaRPr lang="en-US" altLang="zh-TW" dirty="0"/>
          </a:p>
          <a:p>
            <a:r>
              <a:rPr lang="en-US" altLang="zh-TW" dirty="0"/>
              <a:t>Device Family </a:t>
            </a:r>
            <a:r>
              <a:rPr lang="zh-TW" altLang="en-US" dirty="0"/>
              <a:t>選  </a:t>
            </a:r>
            <a:r>
              <a:rPr lang="en-US" altLang="zh-TW" dirty="0"/>
              <a:t>Cyclone III</a:t>
            </a:r>
          </a:p>
          <a:p>
            <a:r>
              <a:rPr lang="zh-TW" altLang="en-US" dirty="0"/>
              <a:t>然後選 </a:t>
            </a:r>
            <a:r>
              <a:rPr lang="en-US" altLang="zh-TW" dirty="0"/>
              <a:t>Name </a:t>
            </a:r>
            <a:r>
              <a:rPr lang="zh-TW" altLang="en-US" dirty="0"/>
              <a:t>為 </a:t>
            </a:r>
            <a:r>
              <a:rPr lang="en-US" altLang="zh-TW" dirty="0"/>
              <a:t>EP3C16F484C6</a:t>
            </a:r>
          </a:p>
          <a:p>
            <a:endParaRPr lang="en-US" altLang="zh-TW" dirty="0"/>
          </a:p>
          <a:p>
            <a:pPr marL="457200" indent="-457200">
              <a:buFont typeface="+mj-lt"/>
              <a:buAutoNum type="arabicPeriod" startAt="5"/>
            </a:pPr>
            <a:r>
              <a:rPr lang="zh-TW" altLang="en-US" dirty="0"/>
              <a:t>後面的設定用預設即可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23B5D8AA-99CE-4EE7-BFE9-A28C99ECC897}"/>
              </a:ext>
            </a:extLst>
          </p:cNvPr>
          <p:cNvGrpSpPr/>
          <p:nvPr/>
        </p:nvGrpSpPr>
        <p:grpSpPr>
          <a:xfrm>
            <a:off x="5572018" y="1668865"/>
            <a:ext cx="5752148" cy="4737831"/>
            <a:chOff x="5757386" y="1833965"/>
            <a:chExt cx="5752148" cy="4737831"/>
          </a:xfrm>
        </p:grpSpPr>
        <p:pic>
          <p:nvPicPr>
            <p:cNvPr id="5" name="圖片 2">
              <a:extLst>
                <a:ext uri="{FF2B5EF4-FFF2-40B4-BE49-F238E27FC236}">
                  <a16:creationId xmlns:a16="http://schemas.microsoft.com/office/drawing/2014/main" id="{E5BFC08C-4431-4E51-92D4-301C0FF50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7386" y="1833965"/>
              <a:ext cx="5752148" cy="473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556DB3-2804-4955-A1F0-0B8B702CC0AF}"/>
                </a:ext>
              </a:extLst>
            </p:cNvPr>
            <p:cNvSpPr/>
            <p:nvPr/>
          </p:nvSpPr>
          <p:spPr>
            <a:xfrm>
              <a:off x="5928360" y="2895600"/>
              <a:ext cx="2705100" cy="7315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A085AF6-5B30-4DDC-A140-876C12507484}"/>
                </a:ext>
              </a:extLst>
            </p:cNvPr>
            <p:cNvSpPr/>
            <p:nvPr/>
          </p:nvSpPr>
          <p:spPr>
            <a:xfrm>
              <a:off x="5884164" y="4535336"/>
              <a:ext cx="5462016" cy="135492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F92DCEA5-BFBD-44FC-A9F7-28FBF2CB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4F43D0FD-DD6E-4894-8BA3-CA23C316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64853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252085-6665-405D-B73F-A34D3896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新增設計檔案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518C2C-0873-4F86-8778-F7A7B38E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點選 </a:t>
            </a:r>
            <a:r>
              <a:rPr lang="en-US" altLang="zh-TW" dirty="0"/>
              <a:t>File-&gt;New…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選擇檔案格式，按 </a:t>
            </a:r>
            <a:r>
              <a:rPr lang="en-US" altLang="zh-TW" dirty="0"/>
              <a:t>OK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圖形：</a:t>
            </a:r>
            <a:r>
              <a:rPr lang="en-US" altLang="zh-TW" dirty="0"/>
              <a:t>Block Diagram/Schematic File</a:t>
            </a:r>
          </a:p>
          <a:p>
            <a:r>
              <a:rPr lang="zh-TW" altLang="en-US" dirty="0"/>
              <a:t>另外也有硬體描述語言 </a:t>
            </a:r>
            <a:r>
              <a:rPr lang="en-US" altLang="zh-TW" dirty="0"/>
              <a:t>VHDL, Verilog …</a:t>
            </a:r>
          </a:p>
          <a:p>
            <a:r>
              <a:rPr lang="zh-TW" altLang="en-US" dirty="0"/>
              <a:t>本範例選擇 </a:t>
            </a:r>
            <a:r>
              <a:rPr lang="en-US" altLang="zh-TW" dirty="0"/>
              <a:t>Block Diagram/Schematic File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635D6FD2-C2E4-4F9C-9B80-265712105208}"/>
              </a:ext>
            </a:extLst>
          </p:cNvPr>
          <p:cNvGrpSpPr/>
          <p:nvPr/>
        </p:nvGrpSpPr>
        <p:grpSpPr>
          <a:xfrm>
            <a:off x="6414176" y="268839"/>
            <a:ext cx="5130058" cy="3631986"/>
            <a:chOff x="5929313" y="268839"/>
            <a:chExt cx="5130058" cy="3631986"/>
          </a:xfrm>
        </p:grpSpPr>
        <p:pic>
          <p:nvPicPr>
            <p:cNvPr id="4" name="圖片 1">
              <a:extLst>
                <a:ext uri="{FF2B5EF4-FFF2-40B4-BE49-F238E27FC236}">
                  <a16:creationId xmlns:a16="http://schemas.microsoft.com/office/drawing/2014/main" id="{D54EF128-B178-40FA-9D48-39CA2CB99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600" y="268839"/>
              <a:ext cx="5115771" cy="363198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8412965-D2B0-4114-AE1C-67A67D0180C0}"/>
                </a:ext>
              </a:extLst>
            </p:cNvPr>
            <p:cNvSpPr/>
            <p:nvPr/>
          </p:nvSpPr>
          <p:spPr>
            <a:xfrm>
              <a:off x="5929313" y="490538"/>
              <a:ext cx="1238250" cy="1476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7" name="圖片 2">
            <a:extLst>
              <a:ext uri="{FF2B5EF4-FFF2-40B4-BE49-F238E27FC236}">
                <a16:creationId xmlns:a16="http://schemas.microsoft.com/office/drawing/2014/main" id="{ADC10CC7-908E-4BAC-AA11-1E2EE6793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75" y="2562563"/>
            <a:ext cx="2424113" cy="347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637AAEA7-3075-46E2-A500-21088472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E4B3C7D9-9A83-4424-95C9-AD645418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24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97491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C1E9C-2F97-4D51-A3C4-CF7C11FD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圖形設計界面</a:t>
            </a:r>
          </a:p>
        </p:txBody>
      </p:sp>
      <p:pic>
        <p:nvPicPr>
          <p:cNvPr id="4" name="圖片 1">
            <a:extLst>
              <a:ext uri="{FF2B5EF4-FFF2-40B4-BE49-F238E27FC236}">
                <a16:creationId xmlns:a16="http://schemas.microsoft.com/office/drawing/2014/main" id="{CD96DF6E-406A-48E7-B487-63EA86761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087" y="1831416"/>
            <a:ext cx="6375825" cy="45175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7AB666-6018-4B17-874B-96EB0B74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5C6D70-4819-4005-B81B-7446A6EA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25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97558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82048-207F-449E-A158-0D33D137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圖形編輯常用項目說明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1A9094-9D33-4A9E-BD11-D0454F95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063240"/>
            <a:ext cx="9720073" cy="324612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Symbol</a:t>
            </a:r>
            <a:r>
              <a:rPr lang="zh-TW" altLang="en-US" dirty="0"/>
              <a:t>：各種元件符號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Orthogonal/Diagonal Node Tool</a:t>
            </a:r>
            <a:r>
              <a:rPr lang="zh-TW" altLang="en-US" dirty="0"/>
              <a:t>：線路連接（</a:t>
            </a:r>
            <a:r>
              <a:rPr lang="en-US" altLang="zh-TW" dirty="0"/>
              <a:t>1 bit</a:t>
            </a:r>
            <a:r>
              <a:rPr lang="zh-TW" altLang="en-US" dirty="0"/>
              <a:t>）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Orthogonal/Diagonal Bus Tool</a:t>
            </a:r>
            <a:r>
              <a:rPr lang="zh-TW" altLang="en-US" dirty="0"/>
              <a:t>：連接匯流排（</a:t>
            </a:r>
            <a:r>
              <a:rPr lang="en-US" altLang="zh-TW" dirty="0"/>
              <a:t>n bits</a:t>
            </a:r>
            <a:r>
              <a:rPr lang="zh-TW" altLang="en-US" dirty="0"/>
              <a:t>）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Flip/rotate: </a:t>
            </a:r>
            <a:r>
              <a:rPr lang="zh-TW" altLang="en-US" dirty="0"/>
              <a:t>翻轉或旋轉元件符號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DB0BD977-2215-47E4-9510-CA7690B270DA}"/>
              </a:ext>
            </a:extLst>
          </p:cNvPr>
          <p:cNvGrpSpPr/>
          <p:nvPr/>
        </p:nvGrpSpPr>
        <p:grpSpPr>
          <a:xfrm>
            <a:off x="355088" y="1840367"/>
            <a:ext cx="11481823" cy="843778"/>
            <a:chOff x="135632" y="2021342"/>
            <a:chExt cx="11481823" cy="843778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C575205-C720-4F75-843A-F4C21406C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632" y="2325034"/>
              <a:ext cx="11481823" cy="540086"/>
            </a:xfrm>
            <a:prstGeom prst="rect">
              <a:avLst/>
            </a:prstGeom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7090278-8E2B-4D2C-B15E-4FD13F3A0EDB}"/>
                </a:ext>
              </a:extLst>
            </p:cNvPr>
            <p:cNvSpPr txBox="1"/>
            <p:nvPr/>
          </p:nvSpPr>
          <p:spPr>
            <a:xfrm>
              <a:off x="2773680" y="202134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AutoNum type="circleNumWdWhitePlain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7156674-192E-4E35-8B2B-6425DEE15F76}"/>
                </a:ext>
              </a:extLst>
            </p:cNvPr>
            <p:cNvSpPr txBox="1"/>
            <p:nvPr/>
          </p:nvSpPr>
          <p:spPr>
            <a:xfrm>
              <a:off x="4411980" y="202134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2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76449B2-0746-4E84-AF33-B4D4B6906836}"/>
                </a:ext>
              </a:extLst>
            </p:cNvPr>
            <p:cNvSpPr txBox="1"/>
            <p:nvPr/>
          </p:nvSpPr>
          <p:spPr>
            <a:xfrm>
              <a:off x="5730240" y="202134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2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7A55B879-DAB9-4A95-A976-F6779AB93958}"/>
                </a:ext>
              </a:extLst>
            </p:cNvPr>
            <p:cNvSpPr txBox="1"/>
            <p:nvPr/>
          </p:nvSpPr>
          <p:spPr>
            <a:xfrm>
              <a:off x="4876800" y="202134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3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2FF3515-2CA0-44D9-BAEC-11E87B32882C}"/>
                </a:ext>
              </a:extLst>
            </p:cNvPr>
            <p:cNvSpPr txBox="1"/>
            <p:nvPr/>
          </p:nvSpPr>
          <p:spPr>
            <a:xfrm>
              <a:off x="6187440" y="202134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3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E44040B-71FD-43BE-B8DB-6D72ED089E02}"/>
                </a:ext>
              </a:extLst>
            </p:cNvPr>
            <p:cNvSpPr txBox="1"/>
            <p:nvPr/>
          </p:nvSpPr>
          <p:spPr>
            <a:xfrm>
              <a:off x="10626852" y="202134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4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D6393F-5A7F-46EA-BB35-C07E9B493093}"/>
                </a:ext>
              </a:extLst>
            </p:cNvPr>
            <p:cNvSpPr/>
            <p:nvPr/>
          </p:nvSpPr>
          <p:spPr>
            <a:xfrm>
              <a:off x="10187940" y="2374513"/>
              <a:ext cx="1371600" cy="4486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4" name="頁尾版面配置區 13">
            <a:extLst>
              <a:ext uri="{FF2B5EF4-FFF2-40B4-BE49-F238E27FC236}">
                <a16:creationId xmlns:a16="http://schemas.microsoft.com/office/drawing/2014/main" id="{C1FD3A1B-1C74-40E3-8E34-7404FCFB7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6410FCF0-2362-49B8-809F-6BA8F3DD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26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42682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45FC71-5C25-4E16-9984-FD97961B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加入元件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4542B-9D76-4A75-8468-7CCBE15AE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點擊 </a:t>
            </a:r>
            <a:r>
              <a:rPr lang="en-US" altLang="zh-TW" dirty="0"/>
              <a:t>symbol </a:t>
            </a:r>
            <a:r>
              <a:rPr lang="zh-TW" altLang="en-US" dirty="0"/>
              <a:t>或在空白處點 </a:t>
            </a:r>
            <a:r>
              <a:rPr lang="en-US" altLang="zh-TW" dirty="0"/>
              <a:t>2 </a:t>
            </a:r>
            <a:r>
              <a:rPr lang="zh-TW" altLang="en-US" dirty="0"/>
              <a:t>下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在 </a:t>
            </a:r>
            <a:r>
              <a:rPr lang="en-US" altLang="zh-TW" dirty="0"/>
              <a:t>Name </a:t>
            </a:r>
            <a:r>
              <a:rPr lang="zh-TW" altLang="en-US" dirty="0"/>
              <a:t>搜尋 </a:t>
            </a:r>
            <a:r>
              <a:rPr lang="en-US" altLang="zh-TW" dirty="0"/>
              <a:t>“and2”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按 </a:t>
            </a:r>
            <a:r>
              <a:rPr lang="en-US" altLang="zh-TW" dirty="0"/>
              <a:t>OK </a:t>
            </a:r>
            <a:r>
              <a:rPr lang="zh-TW" altLang="en-US" dirty="0"/>
              <a:t>，</a:t>
            </a:r>
            <a:r>
              <a:rPr lang="en-US" altLang="zh-TW" dirty="0"/>
              <a:t>2-input and </a:t>
            </a:r>
            <a:r>
              <a:rPr lang="zh-TW" altLang="en-US" dirty="0"/>
              <a:t>就加入完成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同樣地，加入 </a:t>
            </a:r>
            <a:r>
              <a:rPr lang="en-US" altLang="zh-TW" dirty="0" err="1"/>
              <a:t>xor</a:t>
            </a:r>
            <a:r>
              <a:rPr lang="zh-TW" altLang="en-US" dirty="0"/>
              <a:t>、</a:t>
            </a:r>
            <a:r>
              <a:rPr lang="en-US" altLang="zh-TW" dirty="0"/>
              <a:t>input</a:t>
            </a:r>
            <a:r>
              <a:rPr lang="zh-TW" altLang="en-US" dirty="0"/>
              <a:t>、</a:t>
            </a:r>
            <a:r>
              <a:rPr lang="en-US" altLang="zh-TW" dirty="0"/>
              <a:t>output</a:t>
            </a:r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ED0FEB2-D7C5-4ECA-83A2-68F2940A0C59}"/>
              </a:ext>
            </a:extLst>
          </p:cNvPr>
          <p:cNvGrpSpPr/>
          <p:nvPr/>
        </p:nvGrpSpPr>
        <p:grpSpPr>
          <a:xfrm>
            <a:off x="6096000" y="466678"/>
            <a:ext cx="5799519" cy="4023361"/>
            <a:chOff x="5782056" y="585216"/>
            <a:chExt cx="6484938" cy="4228674"/>
          </a:xfrm>
        </p:grpSpPr>
        <p:pic>
          <p:nvPicPr>
            <p:cNvPr id="4" name="圖片 1">
              <a:extLst>
                <a:ext uri="{FF2B5EF4-FFF2-40B4-BE49-F238E27FC236}">
                  <a16:creationId xmlns:a16="http://schemas.microsoft.com/office/drawing/2014/main" id="{77980919-B80C-40AB-90AA-FF27FC4D3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2056" y="585216"/>
              <a:ext cx="6484938" cy="4228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A5AC72-FC31-478F-9849-F58B32D22CE5}"/>
                </a:ext>
              </a:extLst>
            </p:cNvPr>
            <p:cNvSpPr/>
            <p:nvPr/>
          </p:nvSpPr>
          <p:spPr>
            <a:xfrm>
              <a:off x="5916116" y="3324136"/>
              <a:ext cx="1487424" cy="35916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pic>
        <p:nvPicPr>
          <p:cNvPr id="9" name="圖片 2">
            <a:extLst>
              <a:ext uri="{FF2B5EF4-FFF2-40B4-BE49-F238E27FC236}">
                <a16:creationId xmlns:a16="http://schemas.microsoft.com/office/drawing/2014/main" id="{2F53A0AE-A0B0-4302-97DA-39C66301A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606" y="2822142"/>
            <a:ext cx="4760913" cy="365848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0B22F8-CF02-4586-A32C-84D620AA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27C073E9-8B52-41DE-AE7F-918003DF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27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57059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7F880F-448C-4733-895E-F7CF281C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連接線段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1AB9B6-CCFD-4C1E-A9FA-8163C69D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71822" cy="4023360"/>
          </a:xfrm>
        </p:spPr>
        <p:txBody>
          <a:bodyPr/>
          <a:lstStyle/>
          <a:p>
            <a:r>
              <a:rPr lang="zh-TW" altLang="en-US" dirty="0"/>
              <a:t>選擇 </a:t>
            </a:r>
            <a:r>
              <a:rPr lang="en-US" altLang="zh-TW" dirty="0"/>
              <a:t>Orthogonal Node Tool</a:t>
            </a:r>
            <a:r>
              <a:rPr lang="zh-TW" altLang="en-US" dirty="0"/>
              <a:t>，把線路接好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>
                <a:solidFill>
                  <a:srgbClr val="FF0000"/>
                </a:solidFill>
              </a:rPr>
              <a:t>注意：</a:t>
            </a:r>
            <a:r>
              <a:rPr lang="zh-TW" altLang="en-US" dirty="0">
                <a:solidFill>
                  <a:srgbClr val="FF0000"/>
                </a:solidFill>
              </a:rPr>
              <a:t>不要選到 </a:t>
            </a:r>
            <a:r>
              <a:rPr lang="en-US" altLang="zh-TW" dirty="0">
                <a:solidFill>
                  <a:srgbClr val="FF0000"/>
                </a:solidFill>
              </a:rPr>
              <a:t>bus tool</a:t>
            </a:r>
            <a:r>
              <a:rPr lang="zh-TW" altLang="en-US" dirty="0">
                <a:solidFill>
                  <a:srgbClr val="FF0000"/>
                </a:solidFill>
              </a:rPr>
              <a:t>！</a:t>
            </a:r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4" name="圖片 2">
            <a:extLst>
              <a:ext uri="{FF2B5EF4-FFF2-40B4-BE49-F238E27FC236}">
                <a16:creationId xmlns:a16="http://schemas.microsoft.com/office/drawing/2014/main" id="{B972DBE0-392C-46D9-8024-CFB7F1F6B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342" y="2084832"/>
            <a:ext cx="6206158" cy="363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34A0A2-E1E3-4B53-8017-6AD5E65B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B66F29-E7DB-4DCC-8710-C0776291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28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65894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C0083E-4EBC-40B4-8ED8-D0002CBE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命名腳位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B510E9-A56E-416D-BEEB-E77C3F4D3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224147" cy="4023360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pin name </a:t>
            </a:r>
            <a:r>
              <a:rPr lang="zh-TW" altLang="en-US" dirty="0"/>
              <a:t>上點 </a:t>
            </a:r>
            <a:r>
              <a:rPr lang="en-US" altLang="zh-TW" dirty="0"/>
              <a:t>2 </a:t>
            </a:r>
            <a:r>
              <a:rPr lang="zh-TW" altLang="en-US" dirty="0"/>
              <a:t>下改名字</a:t>
            </a:r>
          </a:p>
        </p:txBody>
      </p:sp>
      <p:pic>
        <p:nvPicPr>
          <p:cNvPr id="4" name="圖片 2">
            <a:extLst>
              <a:ext uri="{FF2B5EF4-FFF2-40B4-BE49-F238E27FC236}">
                <a16:creationId xmlns:a16="http://schemas.microsoft.com/office/drawing/2014/main" id="{4674CBA2-0662-458F-84C2-9ABC80574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1971675"/>
            <a:ext cx="6746405" cy="422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515E0E4-12EC-40F3-A5A9-0A6D92D7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723EC4-455C-4B4D-A1C8-E64C79C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29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25704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E79967-554B-4536-B2F7-1700101B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編譯常用項目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DBFABB-9E4E-4EE2-9E69-166985776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797004"/>
            <a:ext cx="9720073" cy="351235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Pin Planner: </a:t>
            </a:r>
            <a:r>
              <a:rPr lang="zh-TW" altLang="en-US" dirty="0"/>
              <a:t>指派 </a:t>
            </a:r>
            <a:r>
              <a:rPr lang="en-US" altLang="zh-TW" dirty="0"/>
              <a:t>Top-level Entity </a:t>
            </a:r>
            <a:r>
              <a:rPr lang="zh-TW" altLang="en-US" dirty="0"/>
              <a:t>的 </a:t>
            </a:r>
            <a:r>
              <a:rPr lang="en-US" altLang="zh-TW" dirty="0"/>
              <a:t>I/O </a:t>
            </a:r>
            <a:r>
              <a:rPr lang="zh-TW" altLang="en-US" dirty="0"/>
              <a:t>到指定腳位。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Stop Processing:</a:t>
            </a:r>
            <a:r>
              <a:rPr lang="zh-TW" altLang="en-US" dirty="0"/>
              <a:t> 停止目前的行程，例如編譯。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Start Compilation:</a:t>
            </a:r>
            <a:r>
              <a:rPr lang="zh-TW" altLang="en-US" dirty="0"/>
              <a:t> 編譯專案。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Compilation Report:</a:t>
            </a:r>
            <a:r>
              <a:rPr lang="zh-TW" altLang="en-US" dirty="0"/>
              <a:t> 專案的編譯報告。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Programmer: </a:t>
            </a:r>
            <a:r>
              <a:rPr lang="zh-TW" altLang="en-US" dirty="0"/>
              <a:t>燒錄設計到板子裡。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B559B39-2E9D-43FC-A069-E3E405CCF26D}"/>
              </a:ext>
            </a:extLst>
          </p:cNvPr>
          <p:cNvGrpSpPr/>
          <p:nvPr/>
        </p:nvGrpSpPr>
        <p:grpSpPr>
          <a:xfrm>
            <a:off x="1730815" y="1639575"/>
            <a:ext cx="8730369" cy="890514"/>
            <a:chOff x="4314825" y="1297389"/>
            <a:chExt cx="7719888" cy="787443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8145B7A6-364F-4777-A73E-513927041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4825" y="1659583"/>
              <a:ext cx="7719888" cy="425249"/>
            </a:xfrm>
            <a:prstGeom prst="rect">
              <a:avLst/>
            </a:prstGeom>
          </p:spPr>
        </p:pic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9AC0E97B-B33D-4AD4-BD38-3428A3FE124B}"/>
                </a:ext>
              </a:extLst>
            </p:cNvPr>
            <p:cNvSpPr txBox="1"/>
            <p:nvPr/>
          </p:nvSpPr>
          <p:spPr>
            <a:xfrm>
              <a:off x="5824662" y="130000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AutoNum type="circleNumWdWhitePlain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828352C8-5200-4B22-8F50-02F71C2093D0}"/>
                </a:ext>
              </a:extLst>
            </p:cNvPr>
            <p:cNvSpPr txBox="1"/>
            <p:nvPr/>
          </p:nvSpPr>
          <p:spPr>
            <a:xfrm>
              <a:off x="6650736" y="130000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2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321899F-6DE7-4925-916F-916CAAB83800}"/>
                </a:ext>
              </a:extLst>
            </p:cNvPr>
            <p:cNvSpPr txBox="1"/>
            <p:nvPr/>
          </p:nvSpPr>
          <p:spPr>
            <a:xfrm>
              <a:off x="7129429" y="1300002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3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02ED62F-8B30-4A15-8B5F-81A9468F09EF}"/>
                </a:ext>
              </a:extLst>
            </p:cNvPr>
            <p:cNvSpPr txBox="1"/>
            <p:nvPr/>
          </p:nvSpPr>
          <p:spPr>
            <a:xfrm>
              <a:off x="9726247" y="1297389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4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FF8DF81-6E10-4AC6-9623-4D6AE4F0EEC8}"/>
                </a:ext>
              </a:extLst>
            </p:cNvPr>
            <p:cNvSpPr txBox="1"/>
            <p:nvPr/>
          </p:nvSpPr>
          <p:spPr>
            <a:xfrm>
              <a:off x="10183447" y="1297389"/>
              <a:ext cx="533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buFont typeface="Wingdings" panose="05000000000000000000" pitchFamily="2" charset="2"/>
                <a:buAutoNum type="circleNumWdWhitePlain" startAt="5"/>
              </a:pPr>
              <a:r>
                <a:rPr lang="en-US" altLang="zh-TW" sz="2800" dirty="0">
                  <a:solidFill>
                    <a:srgbClr val="FF0000"/>
                  </a:solidFill>
                </a:rPr>
                <a:t> </a:t>
              </a:r>
              <a:endParaRPr lang="zh-TW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頁尾版面配置區 9">
            <a:extLst>
              <a:ext uri="{FF2B5EF4-FFF2-40B4-BE49-F238E27FC236}">
                <a16:creationId xmlns:a16="http://schemas.microsoft.com/office/drawing/2014/main" id="{368A0694-B069-4ECC-9181-014399E6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EC008B8D-61F6-4CE4-A50F-26260BE4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30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268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3B5BEC-196B-41EA-A946-5401B7DC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編譯、設定腳位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80CF4D-1916-4790-910D-ACCF4DD0F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844827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先把檔案存檔。</a:t>
            </a:r>
            <a:endParaRPr lang="en-US" altLang="zh-TW" dirty="0"/>
          </a:p>
          <a:p>
            <a:pPr lvl="1"/>
            <a:r>
              <a:rPr lang="zh-TW" altLang="en-US" dirty="0"/>
              <a:t>要有一份檔案為 </a:t>
            </a:r>
            <a:r>
              <a:rPr lang="en-US" altLang="zh-TW" dirty="0"/>
              <a:t>top-level entity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按下「</a:t>
            </a:r>
            <a:r>
              <a:rPr lang="en-US" altLang="zh-TW" dirty="0"/>
              <a:t> Start Compilation </a:t>
            </a:r>
            <a:r>
              <a:rPr lang="zh-TW" altLang="en-US" dirty="0"/>
              <a:t>」進行第一次編譯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編譯成功，打開「</a:t>
            </a:r>
            <a:r>
              <a:rPr lang="en-US" altLang="zh-TW" dirty="0"/>
              <a:t> Pin Planner </a:t>
            </a:r>
            <a:r>
              <a:rPr lang="zh-TW" altLang="en-US" dirty="0"/>
              <a:t>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在 </a:t>
            </a:r>
            <a:r>
              <a:rPr lang="en-US" altLang="zh-TW" dirty="0"/>
              <a:t>location </a:t>
            </a:r>
            <a:r>
              <a:rPr lang="zh-TW" altLang="en-US" dirty="0"/>
              <a:t>填入腳位號碼</a:t>
            </a:r>
            <a:endParaRPr lang="en-US" altLang="zh-TW" dirty="0"/>
          </a:p>
          <a:p>
            <a:r>
              <a:rPr lang="zh-TW" altLang="en-US" dirty="0"/>
              <a:t>例： </a:t>
            </a:r>
            <a:r>
              <a:rPr lang="en-US" altLang="zh-TW" dirty="0"/>
              <a:t>x </a:t>
            </a:r>
            <a:r>
              <a:rPr lang="zh-TW" altLang="en-US" dirty="0"/>
              <a:t>配到 </a:t>
            </a:r>
            <a:r>
              <a:rPr lang="en-US" altLang="zh-TW" dirty="0"/>
              <a:t>SW[1] → </a:t>
            </a:r>
            <a:r>
              <a:rPr lang="zh-TW" altLang="en-US" dirty="0"/>
              <a:t>腳位 </a:t>
            </a:r>
            <a:r>
              <a:rPr lang="en-US" altLang="zh-TW" dirty="0"/>
              <a:t>H5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zh-TW" altLang="en-US" dirty="0"/>
              <a:t>配完後進行第二次編譯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D8CB360-AA8A-42E5-997D-D80EDD705EAB}"/>
              </a:ext>
            </a:extLst>
          </p:cNvPr>
          <p:cNvGrpSpPr/>
          <p:nvPr/>
        </p:nvGrpSpPr>
        <p:grpSpPr>
          <a:xfrm>
            <a:off x="6096000" y="1624282"/>
            <a:ext cx="5826874" cy="4685078"/>
            <a:chOff x="6096000" y="1795583"/>
            <a:chExt cx="5826874" cy="4685078"/>
          </a:xfrm>
        </p:grpSpPr>
        <p:pic>
          <p:nvPicPr>
            <p:cNvPr id="4" name="圖片 1">
              <a:extLst>
                <a:ext uri="{FF2B5EF4-FFF2-40B4-BE49-F238E27FC236}">
                  <a16:creationId xmlns:a16="http://schemas.microsoft.com/office/drawing/2014/main" id="{9086AAA9-5EEC-45D2-9871-C1A7D41390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303"/>
            <a:stretch/>
          </p:blipFill>
          <p:spPr bwMode="auto">
            <a:xfrm>
              <a:off x="6096000" y="1795583"/>
              <a:ext cx="5826874" cy="4685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315295A-079E-4F11-9E0C-795D33A6EFD9}"/>
                </a:ext>
              </a:extLst>
            </p:cNvPr>
            <p:cNvSpPr/>
            <p:nvPr/>
          </p:nvSpPr>
          <p:spPr>
            <a:xfrm>
              <a:off x="8344331" y="4920078"/>
              <a:ext cx="743685" cy="83691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C71B695-9CB7-43D9-894A-46590A8F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8D69635-66D0-4549-9573-33CB46A12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31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495886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9C8907-C7BC-44BC-B4A3-61DAF10A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燒錄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B13DAB-02FD-4694-B3B6-572828BCA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611562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連接 </a:t>
            </a:r>
            <a:r>
              <a:rPr lang="en-US" altLang="zh-TW" dirty="0"/>
              <a:t>DE0 </a:t>
            </a:r>
            <a:r>
              <a:rPr lang="zh-TW" altLang="en-US" dirty="0"/>
              <a:t>到電腦上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第二次編譯完成後，打開「</a:t>
            </a:r>
            <a:r>
              <a:rPr lang="en-US" altLang="zh-TW" dirty="0"/>
              <a:t> Programmer </a:t>
            </a:r>
            <a:r>
              <a:rPr lang="zh-TW" altLang="en-US" dirty="0"/>
              <a:t>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點擊 </a:t>
            </a:r>
            <a:r>
              <a:rPr lang="en-US" altLang="zh-TW" dirty="0"/>
              <a:t>Hardware Setup…</a:t>
            </a:r>
            <a:br>
              <a:rPr lang="en-US" altLang="zh-TW" dirty="0"/>
            </a:br>
            <a:r>
              <a:rPr lang="zh-TW" altLang="en-US" dirty="0"/>
              <a:t>選擇 </a:t>
            </a:r>
            <a:r>
              <a:rPr lang="en-US" altLang="zh-TW" dirty="0"/>
              <a:t>USB-Blaster [USB-0]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按 </a:t>
            </a:r>
            <a:r>
              <a:rPr lang="en-US" altLang="zh-TW" dirty="0"/>
              <a:t>Start</a:t>
            </a:r>
            <a:r>
              <a:rPr lang="zh-TW" altLang="en-US" dirty="0"/>
              <a:t>，完成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4DF7EC4-F7F1-4872-99D1-0C10759DC576}"/>
              </a:ext>
            </a:extLst>
          </p:cNvPr>
          <p:cNvGrpSpPr/>
          <p:nvPr/>
        </p:nvGrpSpPr>
        <p:grpSpPr>
          <a:xfrm>
            <a:off x="5790570" y="1091682"/>
            <a:ext cx="6056197" cy="4831876"/>
            <a:chOff x="5771909" y="1670180"/>
            <a:chExt cx="6056197" cy="4831876"/>
          </a:xfrm>
        </p:grpSpPr>
        <p:pic>
          <p:nvPicPr>
            <p:cNvPr id="4" name="圖片 1">
              <a:extLst>
                <a:ext uri="{FF2B5EF4-FFF2-40B4-BE49-F238E27FC236}">
                  <a16:creationId xmlns:a16="http://schemas.microsoft.com/office/drawing/2014/main" id="{A5BDAAF1-826C-46EA-A815-8035BBF5A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1909" y="1670180"/>
              <a:ext cx="6056197" cy="4831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3340B47-E0B5-4972-8739-EB0B01899492}"/>
                </a:ext>
              </a:extLst>
            </p:cNvPr>
            <p:cNvSpPr/>
            <p:nvPr/>
          </p:nvSpPr>
          <p:spPr>
            <a:xfrm>
              <a:off x="5878286" y="2286000"/>
              <a:ext cx="1110343" cy="2425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65CC373-6994-430C-9751-57EA4B8875D0}"/>
                </a:ext>
              </a:extLst>
            </p:cNvPr>
            <p:cNvSpPr/>
            <p:nvPr/>
          </p:nvSpPr>
          <p:spPr>
            <a:xfrm>
              <a:off x="5878286" y="2927200"/>
              <a:ext cx="783771" cy="2425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21CA6540-968F-4A6B-96F1-848EE1E4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350DCB4E-D3DF-4075-9217-24189C73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59257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6497C-505B-467A-A833-69266207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階層式設計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7008D8BA-DCDF-46B8-8936-44BE2CC0C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08" y="1827784"/>
            <a:ext cx="6846235" cy="47244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BFA402F-6D1E-473B-8D44-4A4C1907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407" y="3867189"/>
            <a:ext cx="3414392" cy="22920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6279BF5-E619-48A9-B224-89531B234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627" y="871787"/>
            <a:ext cx="3088245" cy="92647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E56081D-4285-4EF7-B98A-09203B923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551" y="2357744"/>
            <a:ext cx="3812643" cy="12365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D9FE1218-A621-45E7-AE50-F2981D6C6D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69468" y="1335024"/>
            <a:ext cx="2810939" cy="442826"/>
          </a:xfrm>
          <a:prstGeom prst="bentConnector3">
            <a:avLst>
              <a:gd name="adj1" fmla="val 100301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910E6F1F-0FDA-498E-A425-6FF4BC1A52A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83268" y="1749624"/>
            <a:ext cx="617211" cy="536248"/>
          </a:xfrm>
          <a:prstGeom prst="bentConnector3">
            <a:avLst>
              <a:gd name="adj1" fmla="val -470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FB7CF68-79F5-4AC4-AD04-65F81BD4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ECA4124-BEF2-4377-B4E6-70234C93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740704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AE3315-813A-44A7-9C02-7AE18274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產生使用 </a:t>
            </a:r>
            <a:r>
              <a:rPr lang="en-US" altLang="zh-TW" dirty="0"/>
              <a:t>block symbol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2E3B0D-B6AE-49BF-A364-F7D67F84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554472" cy="4023360"/>
          </a:xfrm>
        </p:spPr>
        <p:txBody>
          <a:bodyPr/>
          <a:lstStyle/>
          <a:p>
            <a:r>
              <a:rPr lang="zh-TW" altLang="en-US" dirty="0"/>
              <a:t>以全加器組合出 </a:t>
            </a:r>
            <a:r>
              <a:rPr lang="en-US" altLang="zh-TW" dirty="0"/>
              <a:t>4-bit </a:t>
            </a:r>
            <a:r>
              <a:rPr lang="zh-TW" altLang="en-US" dirty="0"/>
              <a:t>加減法器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開啟要做成 </a:t>
            </a:r>
            <a:r>
              <a:rPr lang="en-US" altLang="zh-TW" dirty="0"/>
              <a:t>block symbol</a:t>
            </a:r>
            <a:r>
              <a:rPr lang="zh-TW" altLang="en-US" dirty="0"/>
              <a:t> 的設計檔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File &gt; Create/Update &gt;</a:t>
            </a:r>
            <a:br>
              <a:rPr lang="en-US" altLang="zh-TW" dirty="0"/>
            </a:br>
            <a:r>
              <a:rPr lang="en-US" altLang="zh-TW" dirty="0"/>
              <a:t>Create Symbol Files for Current File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新增 </a:t>
            </a:r>
            <a:r>
              <a:rPr lang="en-US" altLang="zh-TW" dirty="0"/>
              <a:t>Block Diagram/Schematic File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進入 </a:t>
            </a:r>
            <a:r>
              <a:rPr lang="en-US" altLang="zh-TW" dirty="0"/>
              <a:t>Symbol</a:t>
            </a:r>
            <a:r>
              <a:rPr lang="zh-TW" altLang="en-US" dirty="0"/>
              <a:t>，會在 </a:t>
            </a:r>
            <a:r>
              <a:rPr lang="en-US" altLang="zh-TW" dirty="0"/>
              <a:t>project </a:t>
            </a:r>
            <a:r>
              <a:rPr lang="zh-TW" altLang="en-US" dirty="0"/>
              <a:t>中找到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61EDF2A-B20B-485F-B446-7520CA597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884" y="1711621"/>
            <a:ext cx="4586010" cy="361391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64D5483-7547-45FA-9943-329CE2784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01" y="4297680"/>
            <a:ext cx="3958308" cy="2217667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467AC6-6A61-434C-9359-9A1E0389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BCB888-BD37-45B4-89BE-11DC78E29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34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50954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939EE-E5E9-4464-8D2D-D318EE6A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 </a:t>
            </a:r>
            <a:r>
              <a:rPr lang="en-US" altLang="zh-TW" dirty="0"/>
              <a:t>Quartus II </a:t>
            </a:r>
            <a:r>
              <a:rPr lang="zh-TW" altLang="en-US" dirty="0"/>
              <a:t>電路模擬</a:t>
            </a:r>
          </a:p>
        </p:txBody>
      </p:sp>
      <p:sp>
        <p:nvSpPr>
          <p:cNvPr id="4" name="圖片版面配置區 3">
            <a:extLst>
              <a:ext uri="{FF2B5EF4-FFF2-40B4-BE49-F238E27FC236}">
                <a16:creationId xmlns:a16="http://schemas.microsoft.com/office/drawing/2014/main" id="{FB34BF8B-F510-4A12-8AE6-03719E27B78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3D12A58-E780-49F6-B927-EDFED0E8F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TW" altLang="en-US" dirty="0"/>
              <a:t>利用三種專案進行模擬的教學</a:t>
            </a:r>
            <a:br>
              <a:rPr lang="en-US" altLang="zh-TW" dirty="0"/>
            </a:br>
            <a:r>
              <a:rPr lang="zh-TW" altLang="en-US" dirty="0"/>
              <a:t>包含基本操作與進階技巧</a:t>
            </a:r>
            <a:endParaRPr lang="en-US" altLang="zh-TW" dirty="0"/>
          </a:p>
        </p:txBody>
      </p:sp>
      <p:pic>
        <p:nvPicPr>
          <p:cNvPr id="6146" name="Picture 2" descr="https://media.springernature.com/full/springer-static/image/art%3A10.1007%2Fs41870-018-0219-8/MediaObjects/41870_2018_219_Fig8_HTML.png">
            <a:extLst>
              <a:ext uri="{FF2B5EF4-FFF2-40B4-BE49-F238E27FC236}">
                <a16:creationId xmlns:a16="http://schemas.microsoft.com/office/drawing/2014/main" id="{A86B1819-C65B-4A65-BE24-F8707D783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18"/>
          <a:stretch/>
        </p:blipFill>
        <p:spPr bwMode="auto">
          <a:xfrm>
            <a:off x="0" y="-1"/>
            <a:ext cx="122174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5D955F3-A098-4344-B59B-DCDE7BF7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B20BA7-FB6A-4561-8574-1731D574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67E5644-1E61-4311-A31E-84CB9C7AA8A9}" type="slidenum">
              <a:rPr lang="en-US" altLang="zh-TW" noProof="0" smtClean="0"/>
              <a:t>35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05700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8642B-FDB2-45BA-9DB6-968D656A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探討案例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6D19FE-8E0A-4C09-8DF0-AFE75A16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半加器</a:t>
            </a:r>
            <a:endParaRPr lang="en-US" altLang="zh-TW" dirty="0"/>
          </a:p>
          <a:p>
            <a:pPr lvl="1"/>
            <a:r>
              <a:rPr lang="zh-TW" altLang="en-US" dirty="0"/>
              <a:t>利用前面的範例，示範最基本的組合電路模擬。</a:t>
            </a:r>
            <a:endParaRPr lang="en-US" altLang="zh-TW" dirty="0"/>
          </a:p>
          <a:p>
            <a:pPr lvl="1"/>
            <a:r>
              <a:rPr lang="zh-TW" altLang="en-US" dirty="0"/>
              <a:t>輸入：</a:t>
            </a:r>
            <a:r>
              <a:rPr lang="en-US" altLang="zh-TW" dirty="0"/>
              <a:t>x, y</a:t>
            </a:r>
            <a:r>
              <a:rPr lang="zh-TW" altLang="en-US" dirty="0"/>
              <a:t>；輸出：</a:t>
            </a:r>
            <a:r>
              <a:rPr lang="en-US" altLang="zh-TW" dirty="0"/>
              <a:t>C, S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4-bit </a:t>
            </a:r>
            <a:r>
              <a:rPr lang="zh-TW" altLang="en-US" dirty="0"/>
              <a:t>加法器</a:t>
            </a:r>
            <a:endParaRPr lang="en-US" altLang="zh-TW" dirty="0"/>
          </a:p>
          <a:p>
            <a:pPr lvl="1"/>
            <a:r>
              <a:rPr lang="zh-TW" altLang="en-US" dirty="0"/>
              <a:t>利用 </a:t>
            </a:r>
            <a:r>
              <a:rPr lang="en-US" altLang="zh-TW" dirty="0"/>
              <a:t>IC 7483 </a:t>
            </a:r>
            <a:r>
              <a:rPr lang="zh-TW" altLang="en-US" dirty="0"/>
              <a:t>，示範帶有群組的模擬。</a:t>
            </a:r>
            <a:endParaRPr lang="en-US" altLang="zh-TW" dirty="0"/>
          </a:p>
          <a:p>
            <a:pPr lvl="1"/>
            <a:r>
              <a:rPr lang="zh-TW" altLang="en-US" dirty="0"/>
              <a:t>輸入：</a:t>
            </a:r>
            <a:r>
              <a:rPr lang="en-US" altLang="zh-TW" dirty="0"/>
              <a:t>A4, A3, A2, A1, B4, B3, B2, B1, C0</a:t>
            </a:r>
            <a:r>
              <a:rPr lang="zh-TW" altLang="en-US" dirty="0"/>
              <a:t>；輸出：</a:t>
            </a:r>
            <a:r>
              <a:rPr lang="en-US" altLang="zh-TW" dirty="0"/>
              <a:t>C4, S4, S3, S2, S1</a:t>
            </a:r>
          </a:p>
          <a:p>
            <a:r>
              <a:rPr lang="en-US" altLang="zh-TW" dirty="0"/>
              <a:t>D </a:t>
            </a:r>
            <a:r>
              <a:rPr lang="zh-TW" altLang="en-US" dirty="0"/>
              <a:t>型正反器</a:t>
            </a:r>
            <a:endParaRPr lang="en-US" altLang="zh-TW" dirty="0"/>
          </a:p>
          <a:p>
            <a:pPr lvl="1"/>
            <a:r>
              <a:rPr lang="zh-TW" altLang="en-US" dirty="0"/>
              <a:t>利用 </a:t>
            </a:r>
            <a:r>
              <a:rPr lang="en-US" altLang="zh-TW" dirty="0"/>
              <a:t>DFF </a:t>
            </a:r>
            <a:r>
              <a:rPr lang="zh-TW" altLang="en-US" dirty="0"/>
              <a:t>示範基本的循序電路模擬，在此不考慮 </a:t>
            </a:r>
            <a:r>
              <a:rPr lang="en-US" altLang="zh-TW" dirty="0"/>
              <a:t>PRN</a:t>
            </a:r>
            <a:r>
              <a:rPr lang="zh-TW" altLang="en-US" dirty="0"/>
              <a:t> 與 </a:t>
            </a:r>
            <a:r>
              <a:rPr lang="en-US" altLang="zh-TW" dirty="0"/>
              <a:t>CLRN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輸入：</a:t>
            </a:r>
            <a:r>
              <a:rPr lang="en-US" altLang="zh-TW" dirty="0"/>
              <a:t>D, </a:t>
            </a:r>
            <a:r>
              <a:rPr lang="en-US" altLang="zh-TW" dirty="0" err="1"/>
              <a:t>clk</a:t>
            </a:r>
            <a:r>
              <a:rPr lang="en-US" altLang="zh-TW" dirty="0"/>
              <a:t>, PRN, CLRN</a:t>
            </a:r>
            <a:r>
              <a:rPr lang="zh-TW" altLang="en-US" dirty="0"/>
              <a:t>；輸出：</a:t>
            </a:r>
            <a:r>
              <a:rPr lang="en-US" altLang="zh-TW" dirty="0"/>
              <a:t>Q</a:t>
            </a:r>
            <a:r>
              <a:rPr lang="zh-TW" altLang="en-US" dirty="0"/>
              <a:t>。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1055A-AB90-435D-B5E2-420ADC9E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A96EE5-3796-49F9-B1CB-FF550652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36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75700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14C428-ABA3-4FBB-A8E7-ED9B9C44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模擬前置設定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E4F1D0-073A-4CE7-BAF9-1F5E0D54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428405" cy="402336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開啟 </a:t>
            </a:r>
            <a:r>
              <a:rPr lang="en-US" altLang="zh-TW" dirty="0"/>
              <a:t>Tools -&gt;Options...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選取 </a:t>
            </a:r>
            <a:r>
              <a:rPr lang="en-US" altLang="zh-TW" dirty="0"/>
              <a:t>EDA Tool Options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最後一項的最後面補反斜線 </a:t>
            </a:r>
            <a:r>
              <a:rPr lang="en-US" altLang="zh-TW" dirty="0"/>
              <a:t>”\”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按 </a:t>
            </a:r>
            <a:r>
              <a:rPr lang="en-US" altLang="zh-TW" dirty="0"/>
              <a:t>OK</a:t>
            </a:r>
            <a:endParaRPr lang="zh-TW" altLang="en-US" dirty="0"/>
          </a:p>
        </p:txBody>
      </p:sp>
      <p:pic>
        <p:nvPicPr>
          <p:cNvPr id="4" name="圖片 1">
            <a:extLst>
              <a:ext uri="{FF2B5EF4-FFF2-40B4-BE49-F238E27FC236}">
                <a16:creationId xmlns:a16="http://schemas.microsoft.com/office/drawing/2014/main" id="{6433A5DB-DADD-40C5-8575-5DF9BB971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133" y="1805559"/>
            <a:ext cx="6251575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5A48D0-E23B-4BCA-91FA-2E90DC29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0739A7-ADC7-43AB-8A7E-778F797B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37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23320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89D1A-1A39-4586-97D6-B0BDACAB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半加器－前置作業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CDB0FB-A81D-4A2A-8CB6-DB5A5E459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開啟專案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確定半加器為 </a:t>
            </a:r>
            <a:r>
              <a:rPr lang="en-US" altLang="zh-TW" dirty="0"/>
              <a:t>top-level entity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設計完成後進行第一次編譯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endParaRPr lang="zh-TW" altLang="en-US" dirty="0"/>
          </a:p>
        </p:txBody>
      </p:sp>
      <p:pic>
        <p:nvPicPr>
          <p:cNvPr id="5" name="圖片 2">
            <a:extLst>
              <a:ext uri="{FF2B5EF4-FFF2-40B4-BE49-F238E27FC236}">
                <a16:creationId xmlns:a16="http://schemas.microsoft.com/office/drawing/2014/main" id="{E40B3935-318D-446E-94B0-110038CCF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02941"/>
            <a:ext cx="5695480" cy="3564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20E7E7-EBA3-4CEF-8C9D-208EAE24B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5E91C7-841B-43F9-AF93-DE4291BD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38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33762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3231F8-3DBA-42E4-9695-A72794B2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半加器－新增模擬檔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F7A99C-C44F-4D13-9A83-FB2B0C6F2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點選 </a:t>
            </a:r>
            <a:r>
              <a:rPr lang="en-US" altLang="zh-TW" dirty="0"/>
              <a:t>File-&gt;New…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選擇 </a:t>
            </a:r>
            <a:r>
              <a:rPr lang="en-US" altLang="zh-TW" dirty="0"/>
              <a:t>University Program VWF</a:t>
            </a:r>
            <a:r>
              <a:rPr lang="zh-TW" altLang="en-US" dirty="0"/>
              <a:t>，按 </a:t>
            </a:r>
            <a:r>
              <a:rPr lang="en-US" altLang="zh-TW" dirty="0"/>
              <a:t>OK</a:t>
            </a:r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599C5A5-4155-403F-B3B9-8D6234A8CFE9}"/>
              </a:ext>
            </a:extLst>
          </p:cNvPr>
          <p:cNvGrpSpPr>
            <a:grpSpLocks/>
          </p:cNvGrpSpPr>
          <p:nvPr/>
        </p:nvGrpSpPr>
        <p:grpSpPr bwMode="auto">
          <a:xfrm>
            <a:off x="7455445" y="1618150"/>
            <a:ext cx="2602953" cy="4469384"/>
            <a:chOff x="2487874" y="1308745"/>
            <a:chExt cx="2935926" cy="5230167"/>
          </a:xfrm>
        </p:grpSpPr>
        <p:pic>
          <p:nvPicPr>
            <p:cNvPr id="5" name="圖片 1">
              <a:extLst>
                <a:ext uri="{FF2B5EF4-FFF2-40B4-BE49-F238E27FC236}">
                  <a16:creationId xmlns:a16="http://schemas.microsoft.com/office/drawing/2014/main" id="{22BEE0F2-4CE5-477F-B182-FF7006A15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874" y="1308745"/>
              <a:ext cx="2935926" cy="5230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EA30BC-931A-4A40-A0E9-C4D0FF1C963F}"/>
                </a:ext>
              </a:extLst>
            </p:cNvPr>
            <p:cNvSpPr/>
            <p:nvPr/>
          </p:nvSpPr>
          <p:spPr>
            <a:xfrm>
              <a:off x="2923486" y="4783202"/>
              <a:ext cx="1588606" cy="2016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68BC9DF-6CC3-48DF-9A7F-718EC334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BBE8676-C69C-4823-8441-A95A7E46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39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30158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F0D95-C1C7-4D9E-BD0E-4AFC53DF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模擬介面</a:t>
            </a:r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AE5CB29C-9D26-4097-AC00-D95DD6DB0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683" y="2286000"/>
            <a:ext cx="6820772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830A90-B3D5-444C-90C9-64F3FFE6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A813A9-EA3A-42F9-B5A3-3350A187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40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22818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5B3AE8-A94D-4EFE-A111-0B926E5E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模擬常用工具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8C4237-BEAE-4CFE-81B6-6D0BEC85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870200"/>
            <a:ext cx="9720073" cy="343916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Forcing Low(0)</a:t>
            </a:r>
            <a:r>
              <a:rPr lang="zh-TW" altLang="en-US" dirty="0"/>
              <a:t>：設定為邏輯 </a:t>
            </a:r>
            <a:r>
              <a:rPr lang="en-US" altLang="zh-TW" dirty="0"/>
              <a:t>‘0’</a:t>
            </a:r>
            <a:r>
              <a:rPr lang="zh-TW" altLang="en-US" dirty="0"/>
              <a:t>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Forcing High(1)</a:t>
            </a:r>
            <a:r>
              <a:rPr lang="zh-TW" altLang="en-US" dirty="0"/>
              <a:t>：設定為邏輯 </a:t>
            </a:r>
            <a:r>
              <a:rPr lang="en-US" altLang="zh-TW" dirty="0"/>
              <a:t>‘1’</a:t>
            </a:r>
            <a:r>
              <a:rPr lang="zh-TW" altLang="en-US" dirty="0"/>
              <a:t>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Overwrite Clock</a:t>
            </a:r>
            <a:r>
              <a:rPr lang="zh-TW" altLang="en-US" dirty="0"/>
              <a:t>：設定時脈。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Random Value</a:t>
            </a:r>
            <a:r>
              <a:rPr lang="zh-TW" altLang="en-US" dirty="0"/>
              <a:t>：設定隨機數值。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Run Functional Simulation</a:t>
            </a:r>
            <a:r>
              <a:rPr lang="zh-TW" altLang="en-US" dirty="0"/>
              <a:t>：功能模擬，不考慮 </a:t>
            </a:r>
            <a:r>
              <a:rPr lang="en-US" altLang="zh-TW" dirty="0"/>
              <a:t>delay</a:t>
            </a:r>
            <a:r>
              <a:rPr lang="zh-TW" altLang="en-US" dirty="0"/>
              <a:t>。</a:t>
            </a:r>
            <a:endParaRPr lang="en-US" altLang="zh-TW" dirty="0"/>
          </a:p>
          <a:p>
            <a:pPr marL="457200" indent="-457200">
              <a:buFont typeface="Wingdings" panose="05000000000000000000" pitchFamily="2" charset="2"/>
              <a:buAutoNum type="circleNumWdWhitePlain"/>
            </a:pPr>
            <a:r>
              <a:rPr lang="en-US" altLang="zh-TW" dirty="0"/>
              <a:t>Run Timing Simulation</a:t>
            </a:r>
            <a:r>
              <a:rPr lang="zh-TW" altLang="en-US" dirty="0"/>
              <a:t>：時間模擬，會考慮到 </a:t>
            </a:r>
            <a:r>
              <a:rPr lang="en-US" altLang="zh-TW" dirty="0"/>
              <a:t>delay </a:t>
            </a:r>
            <a:r>
              <a:rPr lang="zh-TW" altLang="en-US" dirty="0"/>
              <a:t>的狀況。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03179B0-A6AA-4B0F-A9CA-D6CA880CA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878" y="2084832"/>
            <a:ext cx="10076244" cy="63258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93C9EEC-44A9-42B0-91ED-5C343353BC82}"/>
              </a:ext>
            </a:extLst>
          </p:cNvPr>
          <p:cNvSpPr txBox="1"/>
          <p:nvPr/>
        </p:nvSpPr>
        <p:spPr>
          <a:xfrm>
            <a:off x="3074213" y="1645083"/>
            <a:ext cx="603218" cy="59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BA048C-1A03-4B47-B73F-12C27E362D0B}"/>
              </a:ext>
            </a:extLst>
          </p:cNvPr>
          <p:cNvSpPr txBox="1"/>
          <p:nvPr/>
        </p:nvSpPr>
        <p:spPr>
          <a:xfrm>
            <a:off x="3634345" y="1642530"/>
            <a:ext cx="603218" cy="59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 startAt="2"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880C02E-9F4E-43C7-B9FC-F708D38BFF07}"/>
              </a:ext>
            </a:extLst>
          </p:cNvPr>
          <p:cNvSpPr txBox="1"/>
          <p:nvPr/>
        </p:nvSpPr>
        <p:spPr>
          <a:xfrm>
            <a:off x="6752488" y="1642530"/>
            <a:ext cx="603218" cy="59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 startAt="3"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A33EF5-12DE-44FE-90AB-529292D305ED}"/>
              </a:ext>
            </a:extLst>
          </p:cNvPr>
          <p:cNvSpPr txBox="1"/>
          <p:nvPr/>
        </p:nvSpPr>
        <p:spPr>
          <a:xfrm>
            <a:off x="7850555" y="1639575"/>
            <a:ext cx="603218" cy="59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 startAt="4"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4E8871E-1EC0-41C7-AC6A-158BA40E4795}"/>
              </a:ext>
            </a:extLst>
          </p:cNvPr>
          <p:cNvSpPr txBox="1"/>
          <p:nvPr/>
        </p:nvSpPr>
        <p:spPr>
          <a:xfrm>
            <a:off x="8481561" y="1645083"/>
            <a:ext cx="603218" cy="59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 startAt="5"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71F39E-B94C-40E5-A58F-298BC4509719}"/>
              </a:ext>
            </a:extLst>
          </p:cNvPr>
          <p:cNvSpPr txBox="1"/>
          <p:nvPr/>
        </p:nvSpPr>
        <p:spPr>
          <a:xfrm>
            <a:off x="9038855" y="1639575"/>
            <a:ext cx="603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AutoNum type="circleNumWdWhitePlain" startAt="6"/>
            </a:pPr>
            <a:r>
              <a:rPr lang="en-US" altLang="zh-TW" sz="2800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頁尾版面配置區 11">
            <a:extLst>
              <a:ext uri="{FF2B5EF4-FFF2-40B4-BE49-F238E27FC236}">
                <a16:creationId xmlns:a16="http://schemas.microsoft.com/office/drawing/2014/main" id="{33FB7276-B689-4338-919F-BF694965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02F2917A-CF0F-4DED-9D75-988E3F97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41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2162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4A93A-1416-4867-BF85-837A1043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 </a:t>
            </a:r>
            <a:r>
              <a:rPr lang="en-US" altLang="zh-TW" dirty="0"/>
              <a:t>Node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1B5AF-D4C5-4A0D-A7DE-ABD221A72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Edit -&gt; Insert -&gt; Insert Node or Bus...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點擊 </a:t>
            </a:r>
            <a:r>
              <a:rPr lang="en-US" altLang="zh-TW" dirty="0"/>
              <a:t>Node Finder…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點擊 </a:t>
            </a:r>
            <a:r>
              <a:rPr lang="en-US" altLang="zh-TW" dirty="0"/>
              <a:t>List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加入要看的 </a:t>
            </a:r>
            <a:r>
              <a:rPr lang="en-US" altLang="zh-TW" dirty="0"/>
              <a:t>Node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按 </a:t>
            </a:r>
            <a:r>
              <a:rPr lang="en-US" altLang="zh-TW" dirty="0"/>
              <a:t>OK</a:t>
            </a:r>
            <a:r>
              <a:rPr lang="zh-TW" altLang="en-US" dirty="0"/>
              <a:t>、</a:t>
            </a:r>
            <a:r>
              <a:rPr lang="en-US" altLang="zh-TW" dirty="0"/>
              <a:t>OK</a:t>
            </a:r>
          </a:p>
          <a:p>
            <a:pPr marL="457200" indent="-457200">
              <a:buFont typeface="+mj-lt"/>
              <a:buAutoNum type="arabicPeriod"/>
            </a:pP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A73EE75-41CB-4B71-99D9-A6B21AFDB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933" y="138426"/>
            <a:ext cx="5468882" cy="2916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57C0DCF6-21DF-4E0D-B693-E0BB667C3E0C}"/>
              </a:ext>
            </a:extLst>
          </p:cNvPr>
          <p:cNvGrpSpPr/>
          <p:nvPr/>
        </p:nvGrpSpPr>
        <p:grpSpPr>
          <a:xfrm>
            <a:off x="8722170" y="1322582"/>
            <a:ext cx="3038369" cy="2477617"/>
            <a:chOff x="8722170" y="1322582"/>
            <a:chExt cx="3038369" cy="2477617"/>
          </a:xfrm>
        </p:grpSpPr>
        <p:pic>
          <p:nvPicPr>
            <p:cNvPr id="5" name="圖片 1">
              <a:extLst>
                <a:ext uri="{FF2B5EF4-FFF2-40B4-BE49-F238E27FC236}">
                  <a16:creationId xmlns:a16="http://schemas.microsoft.com/office/drawing/2014/main" id="{B17895F4-FA77-4DFE-BF16-31EBF8AAA1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07" t="37817" r="26167" b="2850"/>
            <a:stretch/>
          </p:blipFill>
          <p:spPr bwMode="auto">
            <a:xfrm>
              <a:off x="8722170" y="1322582"/>
              <a:ext cx="3038369" cy="2477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B8BFE7C3-DD03-4192-AD73-80C8364C645C}"/>
                </a:ext>
              </a:extLst>
            </p:cNvPr>
            <p:cNvSpPr/>
            <p:nvPr/>
          </p:nvSpPr>
          <p:spPr>
            <a:xfrm>
              <a:off x="10662751" y="2531622"/>
              <a:ext cx="1010241" cy="27130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F857438-9D74-4166-B7B4-2BEAC4E840AA}"/>
              </a:ext>
            </a:extLst>
          </p:cNvPr>
          <p:cNvGrpSpPr/>
          <p:nvPr/>
        </p:nvGrpSpPr>
        <p:grpSpPr>
          <a:xfrm>
            <a:off x="6454027" y="3703133"/>
            <a:ext cx="4131733" cy="3041891"/>
            <a:chOff x="7628806" y="3792459"/>
            <a:chExt cx="4131733" cy="3041891"/>
          </a:xfrm>
        </p:grpSpPr>
        <p:pic>
          <p:nvPicPr>
            <p:cNvPr id="6" name="圖片 1">
              <a:extLst>
                <a:ext uri="{FF2B5EF4-FFF2-40B4-BE49-F238E27FC236}">
                  <a16:creationId xmlns:a16="http://schemas.microsoft.com/office/drawing/2014/main" id="{852CD759-DDD6-4AC3-8E73-785C6A713D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97" t="7067" r="18928" b="6969"/>
            <a:stretch/>
          </p:blipFill>
          <p:spPr bwMode="auto">
            <a:xfrm>
              <a:off x="7628806" y="3792459"/>
              <a:ext cx="4131733" cy="3041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726DA7E4-44E8-416F-ADD3-85CC5919CFDA}"/>
                </a:ext>
              </a:extLst>
            </p:cNvPr>
            <p:cNvSpPr/>
            <p:nvPr/>
          </p:nvSpPr>
          <p:spPr>
            <a:xfrm>
              <a:off x="10176682" y="4436517"/>
              <a:ext cx="717125" cy="27130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DD2B5E33-D27D-4F15-938C-DB9BB5AB1EE2}"/>
                </a:ext>
              </a:extLst>
            </p:cNvPr>
            <p:cNvSpPr/>
            <p:nvPr/>
          </p:nvSpPr>
          <p:spPr>
            <a:xfrm>
              <a:off x="9516872" y="5181784"/>
              <a:ext cx="355600" cy="92671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" name="頁尾版面配置區 12">
            <a:extLst>
              <a:ext uri="{FF2B5EF4-FFF2-40B4-BE49-F238E27FC236}">
                <a16:creationId xmlns:a16="http://schemas.microsoft.com/office/drawing/2014/main" id="{7664FDEB-891B-44F7-ADDD-447E8086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AF6AFAAC-CBA4-4941-A9CE-DBA02B8B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42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58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EA51DB-ABAB-443F-8905-8493B809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設定波形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2AEAAE-9FD8-4220-917A-159926B8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將訊號拖曳到適當位置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框選出要設定的範圍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依照需求選擇設定數值</a:t>
            </a:r>
            <a:endParaRPr lang="en-US" altLang="zh-TW" dirty="0"/>
          </a:p>
          <a:p>
            <a:pPr marL="459486" lvl="1" indent="-285750"/>
            <a:r>
              <a:rPr lang="zh-TW" altLang="en-US" dirty="0"/>
              <a:t>範例為設定 </a:t>
            </a:r>
            <a:r>
              <a:rPr lang="en-US" altLang="zh-TW" dirty="0"/>
              <a:t>count value</a:t>
            </a:r>
            <a:endParaRPr lang="zh-TW" altLang="en-US" dirty="0"/>
          </a:p>
        </p:txBody>
      </p:sp>
      <p:pic>
        <p:nvPicPr>
          <p:cNvPr id="4" name="圖片 12">
            <a:extLst>
              <a:ext uri="{FF2B5EF4-FFF2-40B4-BE49-F238E27FC236}">
                <a16:creationId xmlns:a16="http://schemas.microsoft.com/office/drawing/2014/main" id="{E7357EE6-8D83-44B9-B079-9FDC71657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867" y="1810734"/>
            <a:ext cx="6296289" cy="33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52743C-DA23-46B7-BDA9-E219FF69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E5F47E-6969-444F-A688-D27A01F8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43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41560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4D613-FA47-4063-8A93-FDD77CC0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開始模擬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3107DD-9A2A-4482-B679-80B15E7C1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4750139" cy="4023360"/>
          </a:xfrm>
        </p:spPr>
        <p:txBody>
          <a:bodyPr/>
          <a:lstStyle/>
          <a:p>
            <a:r>
              <a:rPr lang="zh-TW" altLang="en-US" dirty="0"/>
              <a:t>設定好波形後，存檔，然後點選 </a:t>
            </a:r>
            <a:br>
              <a:rPr lang="en-US" altLang="zh-TW" dirty="0"/>
            </a:br>
            <a:r>
              <a:rPr lang="en-US" altLang="zh-TW" dirty="0"/>
              <a:t>Run Functional Simulation</a:t>
            </a:r>
            <a:endParaRPr lang="zh-TW" altLang="en-US" dirty="0"/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F4BA99B6-40AC-4C6F-B7C0-FFE6D5981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372" y="2084832"/>
            <a:ext cx="6688489" cy="358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EF24B207-6E39-4728-A56C-0C83A9D0EC96}"/>
              </a:ext>
            </a:extLst>
          </p:cNvPr>
          <p:cNvSpPr/>
          <p:nvPr/>
        </p:nvSpPr>
        <p:spPr>
          <a:xfrm>
            <a:off x="6155605" y="2548466"/>
            <a:ext cx="1608328" cy="2834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5AA93F6B-4072-40E8-966A-CD1F3D85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82DC6DE-2165-42A6-AD16-CED4E93E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44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1494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EBD5CB-9225-401E-9D71-0F5D0900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4-bit </a:t>
            </a:r>
            <a:r>
              <a:rPr lang="zh-TW" altLang="en-US" dirty="0"/>
              <a:t>全加器－</a:t>
            </a:r>
            <a:r>
              <a:rPr lang="en-US" altLang="zh-TW" dirty="0"/>
              <a:t>7483</a:t>
            </a:r>
            <a:endParaRPr lang="zh-TW" altLang="en-US" dirty="0"/>
          </a:p>
        </p:txBody>
      </p:sp>
      <p:pic>
        <p:nvPicPr>
          <p:cNvPr id="1026" name="Picture 2" descr="74LS83 Pin Diagram">
            <a:extLst>
              <a:ext uri="{FF2B5EF4-FFF2-40B4-BE49-F238E27FC236}">
                <a16:creationId xmlns:a16="http://schemas.microsoft.com/office/drawing/2014/main" id="{4907F76D-5C38-4138-95DD-D32F8CC16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208928"/>
            <a:ext cx="4469180" cy="372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74HC83 block diagram">
            <a:extLst>
              <a:ext uri="{FF2B5EF4-FFF2-40B4-BE49-F238E27FC236}">
                <a16:creationId xmlns:a16="http://schemas.microsoft.com/office/drawing/2014/main" id="{77DBCEBC-2305-4A42-AE1F-1644D5DA59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430" y="2325387"/>
            <a:ext cx="5983653" cy="337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4506C2-E903-4939-81F3-D4C7D936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C370C8-06E5-4B5A-8114-02B96F23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45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643974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F61B4F-51ED-453F-8AD4-D11D28B2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4-bit </a:t>
            </a:r>
            <a:r>
              <a:rPr lang="zh-TW" altLang="en-US" dirty="0"/>
              <a:t>全加器 </a:t>
            </a:r>
            <a:r>
              <a:rPr lang="en-US" altLang="zh-TW" dirty="0"/>
              <a:t>– </a:t>
            </a:r>
            <a:r>
              <a:rPr lang="zh-TW" altLang="en-US" dirty="0"/>
              <a:t>前置作業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F990C7-C325-4F67-9261-2515C2762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開新專案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新增 </a:t>
            </a:r>
            <a:r>
              <a:rPr lang="en-US" altLang="zh-TW" dirty="0"/>
              <a:t>Block Diagram/Schematic File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新增 </a:t>
            </a:r>
            <a:r>
              <a:rPr lang="en-US" altLang="zh-TW" dirty="0"/>
              <a:t>7483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在 </a:t>
            </a:r>
            <a:r>
              <a:rPr lang="en-US" altLang="zh-TW" dirty="0"/>
              <a:t>7483</a:t>
            </a:r>
            <a:r>
              <a:rPr lang="zh-TW" altLang="en-US" dirty="0"/>
              <a:t> 上按右鍵，選擇 </a:t>
            </a:r>
            <a:br>
              <a:rPr lang="en-US" altLang="zh-TW" dirty="0"/>
            </a:br>
            <a:r>
              <a:rPr lang="en-US" altLang="zh-TW" dirty="0"/>
              <a:t>Generate Pins for Symbol Ports 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進行第一次編譯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3314A4-F151-40BD-B06A-215989C41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65" y="2438400"/>
            <a:ext cx="5271182" cy="222399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C984FE-A70E-489A-9E00-C84C3F169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A27467-1F6F-4679-A959-99474011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46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52886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1CAB3-34EC-4075-B588-DFAAE7F7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4-bit </a:t>
            </a:r>
            <a:r>
              <a:rPr lang="zh-TW" altLang="en-US" dirty="0"/>
              <a:t>全加器 </a:t>
            </a:r>
            <a:r>
              <a:rPr lang="en-US" altLang="zh-TW" dirty="0"/>
              <a:t>– </a:t>
            </a:r>
            <a:r>
              <a:rPr lang="zh-TW" altLang="en-US" dirty="0"/>
              <a:t>群組訊號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43D1A0-90B3-4692-9E7E-8114F9ACA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開新模擬檔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加入所有的 </a:t>
            </a:r>
            <a:r>
              <a:rPr lang="en-US" altLang="zh-TW" dirty="0"/>
              <a:t>Node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調整適當順序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框選要組成群組的訊號</a:t>
            </a:r>
            <a:br>
              <a:rPr lang="en-US" altLang="zh-TW" dirty="0"/>
            </a:br>
            <a:r>
              <a:rPr lang="zh-TW" altLang="en-US" dirty="0"/>
              <a:t>按右鍵、</a:t>
            </a:r>
            <a:r>
              <a:rPr lang="en-US" altLang="zh-TW" dirty="0"/>
              <a:t>Grouping</a:t>
            </a:r>
            <a:r>
              <a:rPr lang="zh-TW" altLang="en-US" dirty="0"/>
              <a:t>、</a:t>
            </a:r>
            <a:r>
              <a:rPr lang="en-US" altLang="zh-TW" dirty="0"/>
              <a:t>Group…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取群組名，並給適當的編碼</a:t>
            </a:r>
            <a:br>
              <a:rPr lang="en-US" altLang="zh-TW" dirty="0"/>
            </a:br>
            <a:r>
              <a:rPr lang="zh-TW" altLang="en-US" dirty="0"/>
              <a:t>範例使用 </a:t>
            </a:r>
            <a:r>
              <a:rPr lang="en-US" altLang="zh-TW" dirty="0"/>
              <a:t>Hexadecimal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按 </a:t>
            </a:r>
            <a:r>
              <a:rPr lang="en-US" altLang="zh-TW" dirty="0"/>
              <a:t>OK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B4~B1</a:t>
            </a:r>
            <a:r>
              <a:rPr lang="zh-TW" altLang="en-US" dirty="0"/>
              <a:t>、</a:t>
            </a:r>
            <a:r>
              <a:rPr lang="en-US" altLang="zh-TW" dirty="0"/>
              <a:t>S4~S1 </a:t>
            </a:r>
            <a:r>
              <a:rPr lang="zh-TW" altLang="en-US" dirty="0"/>
              <a:t>一樣進行群組、給編碼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存檔，跑模擬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A42825C-17BC-49CB-BEB5-29304BC1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334" y="1599018"/>
            <a:ext cx="4852990" cy="38243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6AA1F23-E870-462B-9469-446244E2C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748" y="4297680"/>
            <a:ext cx="2505425" cy="16766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69A4DF61-9A00-407A-996B-E86CCD8E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140707DB-20C5-4ABA-83B2-D8C097E9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47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6076770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BCD1CC-DB3C-4BB5-96B3-462A0F25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 </a:t>
            </a:r>
            <a:r>
              <a:rPr lang="zh-TW" altLang="en-US" dirty="0"/>
              <a:t>型正反器－前置作業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BB26CA-106B-4F4C-A8D5-A6797B6ED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開新專案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新增 </a:t>
            </a:r>
            <a:r>
              <a:rPr lang="en-US" altLang="zh-TW" dirty="0"/>
              <a:t>Block Diagram/Schematic File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新增 </a:t>
            </a:r>
            <a:r>
              <a:rPr lang="en-US" altLang="zh-TW" dirty="0"/>
              <a:t>DFF</a:t>
            </a:r>
            <a:r>
              <a:rPr lang="zh-TW" altLang="en-US" dirty="0"/>
              <a:t>、</a:t>
            </a:r>
            <a:r>
              <a:rPr lang="en-US" altLang="zh-TW" dirty="0"/>
              <a:t>VCC</a:t>
            </a:r>
            <a:r>
              <a:rPr lang="zh-TW" altLang="en-US" dirty="0"/>
              <a:t>、</a:t>
            </a:r>
            <a:r>
              <a:rPr lang="en-US" altLang="zh-TW" dirty="0"/>
              <a:t>I/O Port</a:t>
            </a:r>
            <a:r>
              <a:rPr lang="zh-TW" altLang="en-US" dirty="0"/>
              <a:t>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完成接線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進行第一次編譯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0B1D6D1-225C-40B5-9CF4-FA274CE762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06"/>
          <a:stretch/>
        </p:blipFill>
        <p:spPr>
          <a:xfrm>
            <a:off x="6373877" y="2854113"/>
            <a:ext cx="4793995" cy="17314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8FC8FB-C15D-4427-93E4-747CF899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8B09AF-4AAA-45D0-A093-DCCDB5AE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48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825963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62CD52-3173-46EC-8865-CE2A76DC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 </a:t>
            </a:r>
            <a:r>
              <a:rPr lang="zh-TW" altLang="en-US" dirty="0"/>
              <a:t>型正反器－時序模擬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175C5B-B28D-4D15-912D-9EE30574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546938" cy="4023360"/>
          </a:xfrm>
        </p:spPr>
        <p:txBody>
          <a:bodyPr/>
          <a:lstStyle/>
          <a:p>
            <a:r>
              <a:rPr lang="zh-TW" altLang="en-US" dirty="0"/>
              <a:t>範例的 </a:t>
            </a:r>
            <a:r>
              <a:rPr lang="en-US" altLang="zh-TW" dirty="0"/>
              <a:t>DFF </a:t>
            </a:r>
            <a:r>
              <a:rPr lang="zh-TW" altLang="en-US" dirty="0"/>
              <a:t>是正源觸發</a:t>
            </a:r>
            <a:endParaRPr lang="en-US" altLang="zh-TW" dirty="0"/>
          </a:p>
          <a:p>
            <a:r>
              <a:rPr lang="zh-TW" altLang="en-US" dirty="0"/>
              <a:t>設置波形時，應注意 </a:t>
            </a:r>
            <a:r>
              <a:rPr lang="en-US" altLang="zh-TW" dirty="0"/>
              <a:t>CLK</a:t>
            </a:r>
            <a:r>
              <a:rPr lang="zh-TW" altLang="en-US" dirty="0"/>
              <a:t> 的正源觸發時輸入 </a:t>
            </a:r>
            <a:r>
              <a:rPr lang="en-US" altLang="zh-TW" dirty="0"/>
              <a:t>D </a:t>
            </a:r>
            <a:r>
              <a:rPr lang="zh-TW" altLang="en-US" dirty="0"/>
              <a:t>不應該同時間被改變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EAB433E-AEAF-48FE-9DB6-833B4533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763810"/>
            <a:ext cx="6029858" cy="4751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F6F0CAF-53BF-4221-9C5C-417E28DE40A1}"/>
              </a:ext>
            </a:extLst>
          </p:cNvPr>
          <p:cNvCxnSpPr/>
          <p:nvPr/>
        </p:nvCxnSpPr>
        <p:spPr>
          <a:xfrm>
            <a:off x="7874000" y="2895600"/>
            <a:ext cx="0" cy="8890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3F1E97FE-D64D-44F6-84B3-C2B9FF6CFD3F}"/>
              </a:ext>
            </a:extLst>
          </p:cNvPr>
          <p:cNvCxnSpPr/>
          <p:nvPr/>
        </p:nvCxnSpPr>
        <p:spPr>
          <a:xfrm>
            <a:off x="9245600" y="2895600"/>
            <a:ext cx="0" cy="8890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9559BA0-F874-4F9C-9F6E-A82DFDB0726B}"/>
              </a:ext>
            </a:extLst>
          </p:cNvPr>
          <p:cNvCxnSpPr/>
          <p:nvPr/>
        </p:nvCxnSpPr>
        <p:spPr>
          <a:xfrm>
            <a:off x="10617200" y="2895600"/>
            <a:ext cx="0" cy="88900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A151139E-0ABA-4136-B04C-024CB660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TW" altLang="en-US" noProof="0"/>
              <a:t>僅限於逢甲大學課程：「邏輯設計」、「邏輯設計實驗」、「數位系統設計」、「數位系統設計實驗」中使用</a:t>
            </a:r>
            <a:endParaRPr lang="zh-TW" altLang="en-US" noProof="0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2F88650E-8667-42B8-9A69-650D790B1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US" altLang="zh-TW" noProof="0" smtClean="0"/>
              <a:t>49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259323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整體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187_TF22378848.potx" id="{35EE906A-EDD5-472E-B143-3EAC3EA7BF62}" vid="{597AE59B-CAF2-4F45-90E8-B121C6FDD94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71af3243-3dd4-4a8d-8c0d-dd76da1f02a5"/>
    <ds:schemaRef ds:uri="16c05727-aa75-4e4a-9b5f-8a80a116589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整體設計</Template>
  <TotalTime>0</TotalTime>
  <Words>2732</Words>
  <Application>Microsoft Office PowerPoint</Application>
  <PresentationFormat>寬螢幕</PresentationFormat>
  <Paragraphs>332</Paragraphs>
  <Slides>49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0" baseType="lpstr">
      <vt:lpstr>整體</vt:lpstr>
      <vt:lpstr>邏輯設計實習 DE0 課程指引</vt:lpstr>
      <vt:lpstr>DE0 介紹</vt:lpstr>
      <vt:lpstr>DE0 配備</vt:lpstr>
      <vt:lpstr>DE0 Layout and Components</vt:lpstr>
      <vt:lpstr>FPGA 型號</vt:lpstr>
      <vt:lpstr>常用 I/O - Button</vt:lpstr>
      <vt:lpstr>常用 I/O - Switch</vt:lpstr>
      <vt:lpstr>常用 I/O - LEDG</vt:lpstr>
      <vt:lpstr>常用 I/O – 7-segment</vt:lpstr>
      <vt:lpstr>常用 I/O – 7-segment (cont’d)</vt:lpstr>
      <vt:lpstr>常用 I/O – 50 MHz 時脈</vt:lpstr>
      <vt:lpstr>其他 I/O</vt:lpstr>
      <vt:lpstr>連接電腦</vt:lpstr>
      <vt:lpstr>Quartus II 安裝</vt:lpstr>
      <vt:lpstr>Quartus II 版本</vt:lpstr>
      <vt:lpstr>Quartus II 安裝（windows）</vt:lpstr>
      <vt:lpstr>USB Blaster 安裝</vt:lpstr>
      <vt:lpstr>Quartus II 使用</vt:lpstr>
      <vt:lpstr>示範專案：半加器</vt:lpstr>
      <vt:lpstr>FPGA 設計流程</vt:lpstr>
      <vt:lpstr>新建專案</vt:lpstr>
      <vt:lpstr>新建專案（cont’d）</vt:lpstr>
      <vt:lpstr>新建專案（cont’d）</vt:lpstr>
      <vt:lpstr>新增設計檔案</vt:lpstr>
      <vt:lpstr>圖形設計界面</vt:lpstr>
      <vt:lpstr>圖形編輯常用項目說明</vt:lpstr>
      <vt:lpstr>加入元件</vt:lpstr>
      <vt:lpstr>連接線段</vt:lpstr>
      <vt:lpstr>命名腳位</vt:lpstr>
      <vt:lpstr>編譯常用項目</vt:lpstr>
      <vt:lpstr>編譯、設定腳位</vt:lpstr>
      <vt:lpstr>燒錄</vt:lpstr>
      <vt:lpstr>階層式設計</vt:lpstr>
      <vt:lpstr>產生使用 block symbol</vt:lpstr>
      <vt:lpstr> Quartus II 電路模擬</vt:lpstr>
      <vt:lpstr>探討案例</vt:lpstr>
      <vt:lpstr>模擬前置設定</vt:lpstr>
      <vt:lpstr>半加器－前置作業</vt:lpstr>
      <vt:lpstr>半加器－新增模擬檔</vt:lpstr>
      <vt:lpstr>模擬介面</vt:lpstr>
      <vt:lpstr>模擬常用工具</vt:lpstr>
      <vt:lpstr>新增 Node</vt:lpstr>
      <vt:lpstr>設定波形</vt:lpstr>
      <vt:lpstr>開始模擬</vt:lpstr>
      <vt:lpstr>4-bit 全加器－7483</vt:lpstr>
      <vt:lpstr>4-bit 全加器 – 前置作業</vt:lpstr>
      <vt:lpstr>4-bit 全加器 – 群組訊號</vt:lpstr>
      <vt:lpstr>D 型正反器－前置作業</vt:lpstr>
      <vt:lpstr>D 型正反器－時序模擬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邏輯設計實習 DE0 課程指引</dc:title>
  <dc:creator/>
  <cp:lastModifiedBy/>
  <cp:revision>2</cp:revision>
  <dcterms:created xsi:type="dcterms:W3CDTF">2023-01-05T06:38:23Z</dcterms:created>
  <dcterms:modified xsi:type="dcterms:W3CDTF">2023-02-11T08:36:34Z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